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Relationship Id="rId9" Type="http://schemas.openxmlformats.org/officeDocument/2006/relationships/image" Target="../media/image20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21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.png"/><Relationship Id="rId13" Type="http://schemas.openxmlformats.org/officeDocument/2006/relationships/image" Target="../media/image3.png"/><Relationship Id="rId14" Type="http://schemas.openxmlformats.org/officeDocument/2006/relationships/image" Target="../media/image5.png"/><Relationship Id="rId15" Type="http://schemas.openxmlformats.org/officeDocument/2006/relationships/image" Target="../media/image6.png"/><Relationship Id="rId16" Type="http://schemas.openxmlformats.org/officeDocument/2006/relationships/image" Target="../media/image14.png"/><Relationship Id="rId17" Type="http://schemas.openxmlformats.org/officeDocument/2006/relationships/image" Target="../media/image13.png"/><Relationship Id="rId18" Type="http://schemas.openxmlformats.org/officeDocument/2006/relationships/image" Target="../media/image15.png"/><Relationship Id="rId19" Type="http://schemas.openxmlformats.org/officeDocument/2006/relationships/image" Target="../media/image11.png"/><Relationship Id="rId20" Type="http://schemas.openxmlformats.org/officeDocument/2006/relationships/image" Target="../media/image12.png"/><Relationship Id="rId21" Type="http://schemas.openxmlformats.org/officeDocument/2006/relationships/image" Target="../media/image16.png"/><Relationship Id="rId22" Type="http://schemas.openxmlformats.org/officeDocument/2006/relationships/image" Target="../media/image18.png"/><Relationship Id="rId23" Type="http://schemas.openxmlformats.org/officeDocument/2006/relationships/image" Target="../media/image17.png"/><Relationship Id="rId24" Type="http://schemas.openxmlformats.org/officeDocument/2006/relationships/image" Target="../media/image19.png"/><Relationship Id="rId25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1.png"/><Relationship Id="rId17" Type="http://schemas.openxmlformats.org/officeDocument/2006/relationships/image" Target="../media/image12.png"/><Relationship Id="rId18" Type="http://schemas.openxmlformats.org/officeDocument/2006/relationships/image" Target="../media/image13.png"/><Relationship Id="rId19" Type="http://schemas.openxmlformats.org/officeDocument/2006/relationships/image" Target="../media/image16.png"/><Relationship Id="rId20" Type="http://schemas.openxmlformats.org/officeDocument/2006/relationships/image" Target="../media/image18.png"/><Relationship Id="rId21" Type="http://schemas.openxmlformats.org/officeDocument/2006/relationships/image" Target="../media/image17.png"/><Relationship Id="rId22" Type="http://schemas.openxmlformats.org/officeDocument/2006/relationships/image" Target="../media/image20.png"/><Relationship Id="rId23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50.png"/><Relationship Id="rId4" Type="http://schemas.openxmlformats.org/officeDocument/2006/relationships/image" Target="../media/image36.png"/><Relationship Id="rId5" Type="http://schemas.openxmlformats.org/officeDocument/2006/relationships/image" Target="../media/image51.png"/><Relationship Id="rId6" Type="http://schemas.openxmlformats.org/officeDocument/2006/relationships/image" Target="../media/image46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4.png"/><Relationship Id="rId10" Type="http://schemas.openxmlformats.org/officeDocument/2006/relationships/image" Target="../media/image3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13.png"/><Relationship Id="rId14" Type="http://schemas.openxmlformats.org/officeDocument/2006/relationships/image" Target="../media/image15.png"/><Relationship Id="rId15" Type="http://schemas.openxmlformats.org/officeDocument/2006/relationships/image" Target="../media/image14.png"/><Relationship Id="rId16" Type="http://schemas.openxmlformats.org/officeDocument/2006/relationships/image" Target="../media/image11.png"/><Relationship Id="rId17" Type="http://schemas.openxmlformats.org/officeDocument/2006/relationships/image" Target="../media/image12.png"/><Relationship Id="rId18" Type="http://schemas.openxmlformats.org/officeDocument/2006/relationships/image" Target="../media/image18.png"/><Relationship Id="rId19" Type="http://schemas.openxmlformats.org/officeDocument/2006/relationships/image" Target="../media/image16.png"/><Relationship Id="rId20" Type="http://schemas.openxmlformats.org/officeDocument/2006/relationships/image" Target="../media/image17.png"/><Relationship Id="rId21" Type="http://schemas.openxmlformats.org/officeDocument/2006/relationships/image" Target="../media/image20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635000"/>
            <a:ext cx="6120130" cy="25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1079500"/>
            <a:ext cx="6120130" cy="2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90" y="647700"/>
            <a:ext cx="25400" cy="44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520" y="647700"/>
            <a:ext cx="25400" cy="444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80" y="647700"/>
            <a:ext cx="25400" cy="444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609" y="237490"/>
            <a:ext cx="25400" cy="2184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230" y="224790"/>
            <a:ext cx="1656079" cy="25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230" y="443230"/>
            <a:ext cx="1656079" cy="25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609" y="237490"/>
            <a:ext cx="25400" cy="21844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530" y="237490"/>
            <a:ext cx="25400" cy="21844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230" y="443230"/>
            <a:ext cx="1656079" cy="25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7310" y="114300"/>
            <a:ext cx="2285999" cy="482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530" y="237490"/>
            <a:ext cx="25400" cy="21844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230" y="237490"/>
            <a:ext cx="1656079" cy="2184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230" y="224790"/>
            <a:ext cx="1656079" cy="25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300" y="101600"/>
            <a:ext cx="254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0" y="546100"/>
            <a:ext cx="2289809" cy="25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0000" y="101600"/>
            <a:ext cx="2289809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300" y="101600"/>
            <a:ext cx="25400" cy="457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0000" y="101600"/>
            <a:ext cx="2289809" cy="4572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0" y="88900"/>
            <a:ext cx="2289809" cy="25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7109" y="101600"/>
            <a:ext cx="25400" cy="457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0" y="546100"/>
            <a:ext cx="2289809" cy="25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0" y="88900"/>
            <a:ext cx="2289809" cy="25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7109" y="101600"/>
            <a:ext cx="25400" cy="457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0" y="0"/>
            <a:ext cx="2378709" cy="12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9009" y="0"/>
            <a:ext cx="25400" cy="965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0" y="952500"/>
            <a:ext cx="2378709" cy="25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0" y="0"/>
            <a:ext cx="2378709" cy="12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9009" y="0"/>
            <a:ext cx="25400" cy="9652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40300" y="0"/>
            <a:ext cx="25400" cy="9652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0" y="952500"/>
            <a:ext cx="2378709" cy="25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40300" y="0"/>
            <a:ext cx="25400" cy="9652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317500"/>
            <a:ext cx="1257300" cy="25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3300" y="127000"/>
            <a:ext cx="25400" cy="2032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114300"/>
            <a:ext cx="1257300" cy="25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0600" y="127000"/>
            <a:ext cx="25400" cy="2032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317500"/>
            <a:ext cx="1257300" cy="25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114300"/>
            <a:ext cx="1257300" cy="25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0600" y="127000"/>
            <a:ext cx="25400" cy="2032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3300" y="127000"/>
            <a:ext cx="25400" cy="2032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0600" y="330200"/>
            <a:ext cx="25400" cy="2032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92900" y="520700"/>
            <a:ext cx="660400" cy="25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0600" y="330200"/>
            <a:ext cx="25400" cy="2032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00" y="330200"/>
            <a:ext cx="25400" cy="2032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92900" y="520700"/>
            <a:ext cx="660400" cy="254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00" y="330200"/>
            <a:ext cx="25400" cy="2032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661660" y="190500"/>
            <a:ext cx="4318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" sz="900">
                <a:solidFill>
                  <a:srgbClr val="005CB8"/>
                </a:solidFill>
                <a:latin typeface="Roboto"/>
              </a:rPr>
              <a:t>NAME :-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0" y="199390"/>
            <a:ext cx="8407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800">
                <a:solidFill>
                  <a:srgbClr val="000000"/>
                </a:solidFill>
                <a:latin typeface="Roboto"/>
              </a:rPr>
              <a:t>PRANEETH </a:t>
            </a:r>
            <a:r>
              <a:rPr spc="0" u="sng" sz="800">
                <a:solidFill>
                  <a:srgbClr val="000000"/>
                </a:solidFill>
                <a:uFill>
                  <a:solidFill>
                    <a:srgbClr val="ffffff">
                      <a:alpha val="100000"/>
                    </a:srgbClr>
                  </a:solidFill>
                </a:uFill>
                <a:latin typeface="Roboto"/>
              </a:rPr>
              <a:t>SAI 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2540" y="393700"/>
            <a:ext cx="3111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5CB8"/>
                </a:solidFill>
                <a:latin typeface="Roboto"/>
              </a:rPr>
              <a:t>REG 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18300" y="402590"/>
            <a:ext cx="50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800">
                <a:solidFill>
                  <a:srgbClr val="000000"/>
                </a:solidFill>
                <a:latin typeface="Roboto"/>
              </a:rPr>
              <a:t>241501146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690" y="808990"/>
            <a:ext cx="70611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b="1" sz="1300">
                <a:solidFill>
                  <a:srgbClr val="000000"/>
                </a:solidFill>
                <a:latin typeface="Noto Serif"/>
              </a:rPr>
              <a:t>Exp No: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73580" y="802640"/>
            <a:ext cx="29768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3" b="1" sz="1300">
                <a:solidFill>
                  <a:srgbClr val="000000"/>
                </a:solidFill>
                <a:latin typeface="Noto Serif"/>
              </a:rPr>
              <a:t>Study of various Network commands used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0090" y="1361440"/>
            <a:ext cx="393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u="sng" b="1" sz="13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Noto Serif"/>
              </a:rPr>
              <a:t>AIM: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0090" y="1633220"/>
            <a:ext cx="5624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1" sz="1200">
                <a:solidFill>
                  <a:srgbClr val="000000"/>
                </a:solidFill>
                <a:latin typeface="Noto Serif"/>
              </a:rPr>
              <a:t>To study and practise the various network commands used in Linux and Windows operating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090" y="1849120"/>
            <a:ext cx="52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8" sz="1200">
                <a:solidFill>
                  <a:srgbClr val="000000"/>
                </a:solidFill>
                <a:latin typeface="Noto Serif"/>
              </a:rPr>
              <a:t>systems.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090" y="2225040"/>
            <a:ext cx="2292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u="sng" b="1" sz="13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Noto Serif"/>
              </a:rPr>
              <a:t>ALGORITHM / PROCEDURE: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890" y="24968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1.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890" y="2496820"/>
            <a:ext cx="454914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1200">
                <a:solidFill>
                  <a:srgbClr val="000000"/>
                </a:solidFill>
                <a:latin typeface="Noto Serif"/>
              </a:rPr>
              <a:t>Open the Terminal in Linux and the Command Prompt (</a:t>
            </a:r>
            <a:r>
              <a:rPr spc="-58" sz="1050">
                <a:solidFill>
                  <a:srgbClr val="000000"/>
                </a:solidFill>
                <a:latin typeface="Roboto"/>
              </a:rPr>
              <a:t>cmd</a:t>
            </a:r>
            <a:r>
              <a:rPr spc="-84" sz="1200">
                <a:solidFill>
                  <a:srgbClr val="000000"/>
                </a:solidFill>
                <a:latin typeface="Noto Serif"/>
              </a:rPr>
              <a:t>) in Windows.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0890" y="27508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2.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890" y="2750820"/>
            <a:ext cx="293878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Use </a:t>
            </a:r>
            <a:r>
              <a:rPr spc="43" sz="1050">
                <a:solidFill>
                  <a:srgbClr val="000000"/>
                </a:solidFill>
                <a:latin typeface="Roboto"/>
              </a:rPr>
              <a:t>hostname</a:t>
            </a:r>
            <a:r>
              <a:rPr spc="-93" sz="1200">
                <a:solidFill>
                  <a:srgbClr val="000000"/>
                </a:solidFill>
                <a:latin typeface="Noto Serif"/>
              </a:rPr>
              <a:t> to see the name of the computer.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0890" y="30048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3.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890" y="3004820"/>
            <a:ext cx="581533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Use </a:t>
            </a:r>
            <a:r>
              <a:rPr spc="185" sz="1050">
                <a:solidFill>
                  <a:srgbClr val="000000"/>
                </a:solidFill>
                <a:latin typeface="Roboto"/>
              </a:rPr>
              <a:t>ifconfig</a:t>
            </a:r>
            <a:r>
              <a:rPr spc="-81" sz="1200">
                <a:solidFill>
                  <a:srgbClr val="000000"/>
                </a:solidFill>
                <a:latin typeface="Noto Serif"/>
              </a:rPr>
              <a:t> (Linux) and </a:t>
            </a:r>
            <a:r>
              <a:rPr spc="157" sz="1050">
                <a:solidFill>
                  <a:srgbClr val="000000"/>
                </a:solidFill>
                <a:latin typeface="Roboto"/>
              </a:rPr>
              <a:t>ipconfig</a:t>
            </a:r>
            <a:r>
              <a:rPr spc="-87" sz="1200">
                <a:solidFill>
                  <a:srgbClr val="000000"/>
                </a:solidFill>
                <a:latin typeface="Noto Serif"/>
              </a:rPr>
              <a:t> (Windows) to see the IP address, subnet mask and MAC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890" y="3220720"/>
            <a:ext cx="495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5" sz="1200">
                <a:solidFill>
                  <a:srgbClr val="000000"/>
                </a:solidFill>
                <a:latin typeface="Noto Serif"/>
              </a:rPr>
              <a:t>address.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0890" y="34747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4.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890" y="3474720"/>
            <a:ext cx="568198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Use </a:t>
            </a:r>
            <a:r>
              <a:rPr spc="126" sz="1050">
                <a:solidFill>
                  <a:srgbClr val="000000"/>
                </a:solidFill>
                <a:latin typeface="Roboto"/>
              </a:rPr>
              <a:t>ping</a:t>
            </a:r>
            <a:r>
              <a:rPr spc="-93" sz="1200">
                <a:solidFill>
                  <a:srgbClr val="000000"/>
                </a:solidFill>
                <a:latin typeface="Noto Serif"/>
              </a:rPr>
              <a:t> to check whether the remote system is reachable. Note the packet loss and the time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890" y="3690620"/>
            <a:ext cx="368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3" sz="1200">
                <a:solidFill>
                  <a:srgbClr val="000000"/>
                </a:solidFill>
                <a:latin typeface="Noto Serif"/>
              </a:rPr>
              <a:t>taken.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0890" y="39446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5.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890" y="3944620"/>
            <a:ext cx="538988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Use </a:t>
            </a:r>
            <a:r>
              <a:rPr spc="148" sz="1050">
                <a:solidFill>
                  <a:srgbClr val="000000"/>
                </a:solidFill>
                <a:latin typeface="Roboto"/>
              </a:rPr>
              <a:t>traceroute</a:t>
            </a:r>
            <a:r>
              <a:rPr spc="-79" sz="1200">
                <a:solidFill>
                  <a:srgbClr val="000000"/>
                </a:solidFill>
                <a:latin typeface="Noto Serif"/>
              </a:rPr>
              <a:t> (Linux) and </a:t>
            </a:r>
            <a:r>
              <a:rPr spc="190" sz="1050">
                <a:solidFill>
                  <a:srgbClr val="000000"/>
                </a:solidFill>
                <a:latin typeface="Roboto"/>
              </a:rPr>
              <a:t>tracert</a:t>
            </a:r>
            <a:r>
              <a:rPr spc="-88" sz="1200">
                <a:solidFill>
                  <a:srgbClr val="000000"/>
                </a:solidFill>
                <a:latin typeface="Noto Serif"/>
              </a:rPr>
              <a:t> (Windows) to see the path taken by the packets.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0890" y="41986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6.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890" y="4198620"/>
            <a:ext cx="395732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Use </a:t>
            </a:r>
            <a:r>
              <a:rPr spc="95" sz="1050">
                <a:solidFill>
                  <a:srgbClr val="000000"/>
                </a:solidFill>
                <a:latin typeface="Roboto"/>
              </a:rPr>
              <a:t>nslookup</a:t>
            </a:r>
            <a:r>
              <a:rPr spc="-96" sz="1200">
                <a:solidFill>
                  <a:srgbClr val="000000"/>
                </a:solidFill>
                <a:latin typeface="Noto Serif"/>
              </a:rPr>
              <a:t> and </a:t>
            </a:r>
            <a:r>
              <a:rPr spc="150" sz="1050">
                <a:solidFill>
                  <a:srgbClr val="000000"/>
                </a:solidFill>
                <a:latin typeface="Roboto"/>
              </a:rPr>
              <a:t>dig</a:t>
            </a:r>
            <a:r>
              <a:rPr spc="-91" sz="1200">
                <a:solidFill>
                  <a:srgbClr val="000000"/>
                </a:solidFill>
                <a:latin typeface="Noto Serif"/>
              </a:rPr>
              <a:t> to find the IP address of a domain name.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0890" y="44526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7.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890" y="4452620"/>
            <a:ext cx="359029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Use </a:t>
            </a:r>
            <a:r>
              <a:rPr spc="161" sz="1050">
                <a:solidFill>
                  <a:srgbClr val="000000"/>
                </a:solidFill>
                <a:latin typeface="Roboto"/>
              </a:rPr>
              <a:t>netstat</a:t>
            </a:r>
            <a:r>
              <a:rPr spc="-91" sz="1200">
                <a:solidFill>
                  <a:srgbClr val="000000"/>
                </a:solidFill>
                <a:latin typeface="Noto Serif"/>
              </a:rPr>
              <a:t> to see the active connections and open ports.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0890" y="47066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8.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890" y="4706620"/>
            <a:ext cx="344678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Use </a:t>
            </a:r>
            <a:r>
              <a:rPr spc="190" sz="1050">
                <a:solidFill>
                  <a:srgbClr val="000000"/>
                </a:solidFill>
                <a:latin typeface="Roboto"/>
              </a:rPr>
              <a:t>arp -a</a:t>
            </a:r>
            <a:r>
              <a:rPr spc="-78" sz="1200">
                <a:solidFill>
                  <a:srgbClr val="000000"/>
                </a:solidFill>
                <a:latin typeface="Noto Serif"/>
              </a:rPr>
              <a:t> to see the IP address to MAC address table.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0890" y="4960620"/>
            <a:ext cx="114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200">
                <a:solidFill>
                  <a:srgbClr val="000000"/>
                </a:solidFill>
                <a:latin typeface="Noto Serif"/>
              </a:rPr>
              <a:t>9.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4890" y="4960620"/>
            <a:ext cx="4542790" cy="1536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000000"/>
                </a:solidFill>
                <a:latin typeface="Noto Serif"/>
              </a:rPr>
              <a:t>Use </a:t>
            </a:r>
            <a:r>
              <a:rPr spc="143" sz="1050">
                <a:solidFill>
                  <a:srgbClr val="000000"/>
                </a:solidFill>
                <a:latin typeface="Roboto"/>
              </a:rPr>
              <a:t>route</a:t>
            </a:r>
            <a:r>
              <a:rPr spc="-79" sz="1200">
                <a:solidFill>
                  <a:srgbClr val="000000"/>
                </a:solidFill>
                <a:latin typeface="Noto Serif"/>
              </a:rPr>
              <a:t> (Linux) and </a:t>
            </a:r>
            <a:r>
              <a:rPr spc="191" sz="1050">
                <a:solidFill>
                  <a:srgbClr val="000000"/>
                </a:solidFill>
                <a:latin typeface="Roboto"/>
              </a:rPr>
              <a:t>route print</a:t>
            </a:r>
            <a:r>
              <a:rPr spc="-85" sz="1200">
                <a:solidFill>
                  <a:srgbClr val="000000"/>
                </a:solidFill>
                <a:latin typeface="Noto Serif"/>
              </a:rPr>
              <a:t> (Windows) to see the routing table.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0890" y="5214620"/>
            <a:ext cx="27660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1200">
                <a:solidFill>
                  <a:srgbClr val="000000"/>
                </a:solidFill>
                <a:latin typeface="Noto Serif"/>
              </a:rPr>
              <a:t>10. Note down the output of each command.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0090" y="5651500"/>
            <a:ext cx="113029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1" b="1" sz="1200">
                <a:solidFill>
                  <a:srgbClr val="000000"/>
                </a:solidFill>
                <a:latin typeface="Noto Serif"/>
              </a:rPr>
              <a:t>Commands used:</a:t>
            </a:r>
          </a:p>
        </p:txBody>
      </p:sp>
      <p:graphicFrame>
        <p:nvGraphicFramePr>
          <p:cNvPr id="87" name="Table 86"/>
          <p:cNvGraphicFramePr>
            <a:graphicFrameLocks noGrp="1"/>
          </p:cNvGraphicFramePr>
          <p:nvPr/>
        </p:nvGraphicFramePr>
        <p:xfrm>
          <a:off x="720090" y="5867400"/>
          <a:ext cx="6120129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9589"/>
                <a:gridCol w="2160270"/>
                <a:gridCol w="216027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107" b="1" sz="1150">
                          <a:solidFill>
                            <a:srgbClr val="000000"/>
                          </a:solidFill>
                          <a:latin typeface="Noto Serif"/>
                        </a:rPr>
                        <a:t>Purpose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99" b="1" sz="1150">
                          <a:solidFill>
                            <a:srgbClr val="000000"/>
                          </a:solidFill>
                          <a:latin typeface="Noto Serif"/>
                        </a:rPr>
                        <a:t>Linux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5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114" b="1" sz="1150">
                          <a:solidFill>
                            <a:srgbClr val="000000"/>
                          </a:solidFill>
                          <a:latin typeface="Noto Serif"/>
                        </a:rPr>
                        <a:t>Windows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105" sz="1150">
                          <a:solidFill>
                            <a:srgbClr val="000000"/>
                          </a:solidFill>
                          <a:latin typeface="Noto Serif"/>
                        </a:rPr>
                        <a:t>Host name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39" sz="950">
                          <a:solidFill>
                            <a:srgbClr val="000000"/>
                          </a:solidFill>
                          <a:latin typeface="Roboto"/>
                        </a:rPr>
                        <a:t>hostname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39" sz="950">
                          <a:solidFill>
                            <a:srgbClr val="000000"/>
                          </a:solidFill>
                          <a:latin typeface="Roboto"/>
                        </a:rPr>
                        <a:t>hostname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87" sz="1150">
                          <a:solidFill>
                            <a:srgbClr val="000000"/>
                          </a:solidFill>
                          <a:latin typeface="Noto Serif"/>
                        </a:rPr>
                        <a:t>IP configuration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81" sz="950">
                          <a:solidFill>
                            <a:srgbClr val="000000"/>
                          </a:solidFill>
                          <a:latin typeface="Roboto"/>
                        </a:rPr>
                        <a:t>ifconfig / ip addr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83" sz="950">
                          <a:solidFill>
                            <a:srgbClr val="000000"/>
                          </a:solidFill>
                          <a:latin typeface="Roboto"/>
                        </a:rPr>
                        <a:t>ipconfig /all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80" sz="1150">
                          <a:solidFill>
                            <a:srgbClr val="000000"/>
                          </a:solidFill>
                          <a:latin typeface="Noto Serif"/>
                        </a:rPr>
                        <a:t>Check connectivity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28" sz="950">
                          <a:solidFill>
                            <a:srgbClr val="000000"/>
                          </a:solidFill>
                          <a:latin typeface="Roboto"/>
                        </a:rPr>
                        <a:t>ping -c 4 google.com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98" sz="950">
                          <a:solidFill>
                            <a:srgbClr val="000000"/>
                          </a:solidFill>
                          <a:latin typeface="Roboto"/>
                        </a:rPr>
                        <a:t>ping google.com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95" sz="1150">
                          <a:solidFill>
                            <a:srgbClr val="000000"/>
                          </a:solidFill>
                          <a:latin typeface="Noto Serif"/>
                        </a:rPr>
                        <a:t>Trace the route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13" sz="950">
                          <a:solidFill>
                            <a:srgbClr val="000000"/>
                          </a:solidFill>
                          <a:latin typeface="Roboto"/>
                        </a:rPr>
                        <a:t>traceroute google.com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24" sz="950">
                          <a:solidFill>
                            <a:srgbClr val="000000"/>
                          </a:solidFill>
                          <a:latin typeface="Roboto"/>
                        </a:rPr>
                        <a:t>tracert google.com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66" sz="1150">
                          <a:solidFill>
                            <a:srgbClr val="000000"/>
                          </a:solidFill>
                          <a:latin typeface="Noto Serif"/>
                        </a:rPr>
                        <a:t>DNS lookup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39" sz="950">
                          <a:solidFill>
                            <a:srgbClr val="000000"/>
                          </a:solidFill>
                          <a:latin typeface="Roboto"/>
                        </a:rPr>
                        <a:t>nslookup / dig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86" sz="950">
                          <a:solidFill>
                            <a:srgbClr val="000000"/>
                          </a:solidFill>
                          <a:latin typeface="Roboto"/>
                        </a:rPr>
                        <a:t>nslookup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82" sz="1150">
                          <a:solidFill>
                            <a:srgbClr val="000000"/>
                          </a:solidFill>
                          <a:latin typeface="Noto Serif"/>
                        </a:rPr>
                        <a:t>Active connections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81" sz="950">
                          <a:solidFill>
                            <a:srgbClr val="000000"/>
                          </a:solidFill>
                          <a:latin typeface="Roboto"/>
                        </a:rPr>
                        <a:t>netstat -tuln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60" sz="950">
                          <a:solidFill>
                            <a:srgbClr val="000000"/>
                          </a:solidFill>
                          <a:latin typeface="Roboto"/>
                        </a:rPr>
                        <a:t>netstat -an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59" sz="1150">
                          <a:solidFill>
                            <a:srgbClr val="000000"/>
                          </a:solidFill>
                          <a:latin typeface="Noto Serif"/>
                        </a:rPr>
                        <a:t>ARP table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72" sz="950">
                          <a:solidFill>
                            <a:srgbClr val="000000"/>
                          </a:solidFill>
                          <a:latin typeface="Roboto"/>
                        </a:rPr>
                        <a:t>arp -a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72" sz="950">
                          <a:solidFill>
                            <a:srgbClr val="000000"/>
                          </a:solidFill>
                          <a:latin typeface="Roboto"/>
                        </a:rPr>
                        <a:t>arp -a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84" sz="1150">
                          <a:solidFill>
                            <a:srgbClr val="000000"/>
                          </a:solidFill>
                          <a:latin typeface="Noto Serif"/>
                        </a:rPr>
                        <a:t>Routing table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66" sz="950">
                          <a:solidFill>
                            <a:srgbClr val="000000"/>
                          </a:solidFill>
                          <a:latin typeface="Roboto"/>
                        </a:rPr>
                        <a:t>route -n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173" sz="950">
                          <a:solidFill>
                            <a:srgbClr val="000000"/>
                          </a:solidFill>
                          <a:latin typeface="Roboto"/>
                        </a:rPr>
                        <a:t>route print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1150"/>
                        </a:lnSpc>
                      </a:pPr>
                      <a:r>
                        <a:rPr spc="-72" sz="1150">
                          <a:solidFill>
                            <a:srgbClr val="000000"/>
                          </a:solidFill>
                          <a:latin typeface="Noto Serif"/>
                        </a:rPr>
                        <a:t>MAC address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217" sz="950">
                          <a:solidFill>
                            <a:srgbClr val="000000"/>
                          </a:solidFill>
                          <a:latin typeface="Roboto"/>
                        </a:rPr>
                        <a:t>ip link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500"/>
                        </a:lnSpc>
                      </a:pPr>
                    </a:p>
                    <a:p>
                      <a:pPr marL="71120" algn="l">
                        <a:lnSpc>
                          <a:spcPts val="950"/>
                        </a:lnSpc>
                      </a:pPr>
                      <a:r>
                        <a:rPr spc="37" sz="950">
                          <a:solidFill>
                            <a:srgbClr val="000000"/>
                          </a:solidFill>
                          <a:latin typeface="Roboto"/>
                        </a:rPr>
                        <a:t>getmac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508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8" name="TextBox 87"/>
          <p:cNvSpPr txBox="1"/>
          <p:nvPr/>
        </p:nvSpPr>
        <p:spPr>
          <a:xfrm>
            <a:off x="3747770" y="10195560"/>
            <a:ext cx="6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000">
                <a:solidFill>
                  <a:srgbClr val="000000"/>
                </a:solidFill>
                <a:latin typeface="Noto Serif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6576059"/>
            <a:ext cx="6120130" cy="254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6830059"/>
            <a:ext cx="6120130" cy="363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7294880"/>
            <a:ext cx="6120130" cy="25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7548880"/>
            <a:ext cx="6120130" cy="1358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310" y="114300"/>
            <a:ext cx="2285999" cy="482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230" y="237490"/>
            <a:ext cx="1656079" cy="2184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090" y="688340"/>
            <a:ext cx="8801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u="sng" b="1" sz="13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Noto Serif"/>
              </a:rPr>
              <a:t>DIAGRAM: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53000" y="6350"/>
          <a:ext cx="2399028" cy="958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7229"/>
                <a:gridCol w="445770"/>
                <a:gridCol w="596900"/>
                <a:gridCol w="659129"/>
              </a:tblGrid>
              <a:tr h="120650">
                <a:tc>
                  <a:txBody>
                    <a:bodyPr/>
                    <a:lstStyle/>
                    <a:p>
                      <a:pPr>
                        <a:lnSpc>
                          <a:spcPts val="925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3175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25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3175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75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3175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75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10489">
                <a:tc>
                  <a:txBody>
                    <a:bodyPr/>
                    <a:lstStyle/>
                    <a:p>
                      <a:pPr>
                        <a:lnSpc>
                          <a:spcPts val="869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69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69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92710">
                <a:tc>
                  <a:txBody>
                    <a:bodyPr/>
                    <a:lstStyle/>
                    <a:p>
                      <a:pPr>
                        <a:lnSpc>
                          <a:spcPts val="73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5080" algn="l">
                        <a:lnSpc>
                          <a:spcPts val="900"/>
                        </a:lnSpc>
                      </a:pPr>
                      <a:r>
                        <a:rPr spc="26" sz="900">
                          <a:solidFill>
                            <a:srgbClr val="005CB8"/>
                          </a:solidFill>
                          <a:latin typeface="Roboto"/>
                        </a:rPr>
                        <a:t>NAME :-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0" algn="l">
                        <a:lnSpc>
                          <a:spcPts val="800"/>
                        </a:lnSpc>
                      </a:pPr>
                      <a:r>
                        <a:rPr spc="37" sz="800">
                          <a:solidFill>
                            <a:srgbClr val="000000"/>
                          </a:solidFill>
                          <a:latin typeface="Roboto"/>
                        </a:rPr>
                        <a:t>PRANEETH 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L="52069" algn="l">
                        <a:lnSpc>
                          <a:spcPts val="800"/>
                        </a:lnSpc>
                      </a:pPr>
                      <a:r>
                        <a:rPr spc="16" sz="800">
                          <a:solidFill>
                            <a:srgbClr val="000000"/>
                          </a:solidFill>
                          <a:latin typeface="Roboto"/>
                        </a:rPr>
                        <a:t>AI P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25729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0"/>
                        </a:lnSpc>
                      </a:pPr>
                    </a:p>
                    <a:p>
                      <a:pPr marR="22860" algn="r">
                        <a:lnSpc>
                          <a:spcPts val="900"/>
                        </a:lnSpc>
                      </a:pPr>
                      <a:r>
                        <a:rPr spc="65" sz="900">
                          <a:solidFill>
                            <a:srgbClr val="005CB8"/>
                          </a:solidFill>
                          <a:latin typeface="Roboto"/>
                        </a:rPr>
                        <a:t>REG :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0"/>
                        </a:lnSpc>
                      </a:pPr>
                    </a:p>
                    <a:p>
                      <a:pPr marL="19050" algn="l">
                        <a:lnSpc>
                          <a:spcPts val="800"/>
                        </a:lnSpc>
                      </a:pPr>
                      <a:r>
                        <a:rPr spc="-6" sz="800">
                          <a:solidFill>
                            <a:srgbClr val="000000"/>
                          </a:solidFill>
                          <a:latin typeface="Roboto"/>
                        </a:rPr>
                        <a:t>241501146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47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ffff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ffff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20090" y="1003300"/>
            <a:ext cx="35344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b="1" sz="1200">
                <a:solidFill>
                  <a:srgbClr val="000000"/>
                </a:solidFill>
                <a:latin typeface="Noto Serif"/>
              </a:rPr>
              <a:t>Fig 1: Network commands and the layers they work in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332230" y="1219200"/>
          <a:ext cx="4895849" cy="2214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7290"/>
                <a:gridCol w="2448559"/>
              </a:tblGrid>
              <a:tr h="486410">
                <a:tc gridSpan="2"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-91" b="1" sz="1200">
                          <a:solidFill>
                            <a:srgbClr val="000000"/>
                          </a:solidFill>
                          <a:latin typeface="Noto Serif"/>
                        </a:rPr>
                        <a:t>Application Layer</a:t>
                      </a:r>
                    </a:p>
                    <a:p>
                      <a:pPr algn="ctr">
                        <a:lnSpc>
                          <a:spcPts val="950"/>
                        </a:lnSpc>
                        <a:spcBef>
                          <a:spcPts val="409"/>
                        </a:spcBef>
                      </a:pPr>
                      <a:r>
                        <a:rPr spc="170" sz="950">
                          <a:solidFill>
                            <a:srgbClr val="000000"/>
                          </a:solidFill>
                          <a:latin typeface="Roboto"/>
                        </a:rPr>
                        <a:t>nslookup, dig, telnet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  <a:tr h="90169"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85139">
                <a:tc gridSpan="2"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-89" b="1" sz="1200">
                          <a:solidFill>
                            <a:srgbClr val="000000"/>
                          </a:solidFill>
                          <a:latin typeface="Noto Serif"/>
                        </a:rPr>
                        <a:t>Transport Layer</a:t>
                      </a:r>
                    </a:p>
                    <a:p>
                      <a:pPr algn="ctr">
                        <a:lnSpc>
                          <a:spcPts val="950"/>
                        </a:lnSpc>
                        <a:spcBef>
                          <a:spcPts val="420"/>
                        </a:spcBef>
                      </a:pPr>
                      <a:r>
                        <a:rPr spc="172" sz="950">
                          <a:solidFill>
                            <a:srgbClr val="000000"/>
                          </a:solidFill>
                          <a:latin typeface="Roboto"/>
                        </a:rPr>
                        <a:t>netstat, ss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  <a:tr h="90169"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86410">
                <a:tc gridSpan="2">
                  <a:txBody>
                    <a:bodyPr/>
                    <a:lstStyle/>
                    <a:p>
                      <a:pPr>
                        <a:lnSpc>
                          <a:spcPts val="61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-98" b="1" sz="1200">
                          <a:solidFill>
                            <a:srgbClr val="000000"/>
                          </a:solidFill>
                          <a:latin typeface="Noto Serif"/>
                        </a:rPr>
                        <a:t>Network Layer</a:t>
                      </a:r>
                    </a:p>
                    <a:p>
                      <a:pPr algn="ctr">
                        <a:lnSpc>
                          <a:spcPts val="950"/>
                        </a:lnSpc>
                        <a:spcBef>
                          <a:spcPts val="409"/>
                        </a:spcBef>
                      </a:pPr>
                      <a:r>
                        <a:rPr spc="184" sz="950">
                          <a:solidFill>
                            <a:srgbClr val="000000"/>
                          </a:solidFill>
                          <a:latin typeface="Roboto"/>
                        </a:rPr>
                        <a:t>ping, traceroute / tracert, ifconfig / ipconfig, route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  <a:tr h="90169"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86409">
                <a:tc gridSpan="2">
                  <a:txBody>
                    <a:bodyPr/>
                    <a:lstStyle/>
                    <a:p>
                      <a:pPr>
                        <a:lnSpc>
                          <a:spcPts val="600"/>
                        </a:lnSpc>
                      </a:p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spc="-77" b="1" sz="1200">
                          <a:solidFill>
                            <a:srgbClr val="000000"/>
                          </a:solidFill>
                          <a:latin typeface="Noto Serif"/>
                        </a:rPr>
                        <a:t>Data Link Layer</a:t>
                      </a:r>
                    </a:p>
                    <a:p>
                      <a:pPr algn="ctr">
                        <a:lnSpc>
                          <a:spcPts val="950"/>
                        </a:lnSpc>
                        <a:spcBef>
                          <a:spcPts val="420"/>
                        </a:spcBef>
                      </a:pPr>
                      <a:r>
                        <a:rPr spc="116" sz="950">
                          <a:solidFill>
                            <a:srgbClr val="000000"/>
                          </a:solidFill>
                          <a:latin typeface="Roboto"/>
                        </a:rPr>
                        <a:t>arp, getmac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 marL="0" marR="0" marT="0" marB="0" vert="horz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12700" cap="flat" cmpd="sng" algn="ctr">
                      <a:solidFill>
                        <a:srgbClr val="000000">
                          <a:alpha val="0"/>
                        </a:srgbClr>
                      </a:solidFill>
                    </a:lnR>
                    <a:lnT w="12700" cap="flat" cmpd="sng" algn="ctr">
                      <a:solidFill>
                        <a:srgbClr val="000000">
                          <a:alpha val="0"/>
                        </a:srgbClr>
                      </a:solidFill>
                    </a:lnT>
                    <a:lnB w="12700" cap="flat" cmpd="sng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0090" y="3836670"/>
            <a:ext cx="2171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b="1" sz="1200">
                <a:solidFill>
                  <a:srgbClr val="000000"/>
                </a:solidFill>
                <a:latin typeface="Noto Serif"/>
              </a:rPr>
              <a:t>Fig 2:</a:t>
            </a:r>
            <a:r>
              <a:rPr spc="-212" u="sng" b="1" sz="12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Noto Serif"/>
              </a:rPr>
              <a:t> </a:t>
            </a:r>
            <a:r>
              <a:rPr spc="-112" u="sng" b="1" sz="12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Noto Serif"/>
              </a:rPr>
              <a:t>Working of ping comman</a:t>
            </a:r>
            <a:r>
              <a:rPr spc="161" b="1" sz="1200">
                <a:solidFill>
                  <a:srgbClr val="000000"/>
                </a:solidFill>
                <a:latin typeface="Noto Serif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150" y="4156710"/>
            <a:ext cx="7251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b="1" sz="1100">
                <a:solidFill>
                  <a:srgbClr val="000000"/>
                </a:solidFill>
                <a:latin typeface="Noto Serif"/>
              </a:rPr>
              <a:t>Source (PC)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2690" y="4156710"/>
            <a:ext cx="1206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b="1" sz="1100">
                <a:solidFill>
                  <a:srgbClr val="000000"/>
                </a:solidFill>
                <a:latin typeface="Noto Serif"/>
              </a:rPr>
              <a:t>Destination (Server)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5630" y="4648200"/>
            <a:ext cx="128904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sz="1100">
                <a:solidFill>
                  <a:srgbClr val="000000"/>
                </a:solidFill>
                <a:latin typeface="Noto Serif"/>
              </a:rPr>
              <a:t>1. ICMP Echo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4050" y="5115560"/>
            <a:ext cx="11722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100">
                <a:solidFill>
                  <a:srgbClr val="000000"/>
                </a:solidFill>
                <a:latin typeface="Noto Serif"/>
              </a:rPr>
              <a:t>2. ICMP Echo Reply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90" y="6045200"/>
            <a:ext cx="7429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u="sng" b="1" sz="13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Noto Serif"/>
              </a:rPr>
              <a:t>OUTPUT: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90" y="6360160"/>
            <a:ext cx="44069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b="1" sz="1200">
                <a:solidFill>
                  <a:srgbClr val="000000"/>
                </a:solidFill>
                <a:latin typeface="Noto Serif"/>
              </a:rPr>
              <a:t>Linux: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20090" y="6576059"/>
          <a:ext cx="6120130" cy="617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617220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85090" algn="l">
                        <a:lnSpc>
                          <a:spcPts val="969"/>
                        </a:lnSpc>
                      </a:pP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106" sz="850">
                          <a:solidFill>
                            <a:srgbClr val="FFFFFF"/>
                          </a:solidFill>
                          <a:latin typeface="Roboto"/>
                        </a:rPr>
                        <a:t>@</a:t>
                      </a: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0" sz="850">
                          <a:solidFill>
                            <a:srgbClr val="FFFFFF"/>
                          </a:solidFill>
                          <a:latin typeface="Roboto"/>
                        </a:rPr>
                        <a:t>-VirtualBox: ~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-17" sz="600">
                          <a:solidFill>
                            <a:srgbClr val="EEEEEE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165860" y="6906259"/>
            <a:ext cx="596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550" y="690372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150" y="6906259"/>
            <a:ext cx="136778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800">
                <a:solidFill>
                  <a:srgbClr val="EEEEEE"/>
                </a:solidFill>
                <a:latin typeface="Roboto"/>
              </a:rPr>
              <a:t>-VirtualBox:~$ hostname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990" y="7028180"/>
            <a:ext cx="176529" cy="736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5860" y="7030720"/>
            <a:ext cx="65405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5" sz="800">
                <a:solidFill>
                  <a:srgbClr val="EEEEEE"/>
                </a:solidFill>
                <a:latin typeface="Roboto"/>
              </a:rPr>
              <a:t>-VirtualBox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20090" y="7294880"/>
          <a:ext cx="6120130" cy="161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612900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85090" algn="l">
                        <a:lnSpc>
                          <a:spcPts val="969"/>
                        </a:lnSpc>
                      </a:pP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106" sz="850">
                          <a:solidFill>
                            <a:srgbClr val="FFFFFF"/>
                          </a:solidFill>
                          <a:latin typeface="Roboto"/>
                        </a:rPr>
                        <a:t>@</a:t>
                      </a: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0" sz="850">
                          <a:solidFill>
                            <a:srgbClr val="FFFFFF"/>
                          </a:solidFill>
                          <a:latin typeface="Roboto"/>
                        </a:rPr>
                        <a:t>-VirtualBox: ~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60"/>
                        </a:spcBef>
                      </a:pPr>
                      <a:r>
                        <a:rPr spc="-17" sz="600">
                          <a:solidFill>
                            <a:srgbClr val="EEEEEE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65860" y="7625080"/>
            <a:ext cx="596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550" y="762254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1150" y="7625080"/>
            <a:ext cx="136778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EEEEEE"/>
                </a:solidFill>
                <a:latin typeface="Roboto"/>
              </a:rPr>
              <a:t>-VirtualBox:~$ ifconfig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990" y="7749540"/>
            <a:ext cx="356616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sz="800">
                <a:solidFill>
                  <a:srgbClr val="EEEEEE"/>
                </a:solidFill>
                <a:latin typeface="Roboto"/>
              </a:rPr>
              <a:t>enp0s3: flags=4163&lt;UP,BROADCAST,RUNNING,MULTICAST&gt; mtu 1500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550" y="7874000"/>
            <a:ext cx="392176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EEEEEE"/>
                </a:solidFill>
                <a:latin typeface="Roboto"/>
              </a:rPr>
              <a:t> inet 192.168.1.10 netmask 255.255.255.0 broadcast 192.168.1.255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550" y="7998459"/>
            <a:ext cx="386334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9" sz="800">
                <a:solidFill>
                  <a:srgbClr val="EEEEEE"/>
                </a:solidFill>
                <a:latin typeface="Roboto"/>
              </a:rPr>
              <a:t> inet6 fe80::a00:27ff:fe4e:66a1 prefixlen 64 scopeid 0x20&lt;link&gt;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550" y="8122920"/>
            <a:ext cx="314960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EEEEEE"/>
                </a:solidFill>
                <a:latin typeface="Roboto"/>
              </a:rPr>
              <a:t> ether 08:00:27:4e:66:a1 txqueuelen 1000 (Ethernet)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550" y="8247380"/>
            <a:ext cx="237744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sz="800">
                <a:solidFill>
                  <a:srgbClr val="EEEEEE"/>
                </a:solidFill>
                <a:latin typeface="Roboto"/>
              </a:rPr>
              <a:t> RX packets 2543 bytes 2154321 (2.1 MB)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550" y="8371840"/>
            <a:ext cx="243586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0" sz="800">
                <a:solidFill>
                  <a:srgbClr val="EEEEEE"/>
                </a:solidFill>
                <a:latin typeface="Roboto"/>
              </a:rPr>
              <a:t> TX packets 1987 bytes 312456 (312.4 KB)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990" y="8620760"/>
            <a:ext cx="261493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sz="800">
                <a:solidFill>
                  <a:srgbClr val="EEEEEE"/>
                </a:solidFill>
                <a:latin typeface="Roboto"/>
              </a:rPr>
              <a:t>lo: flags=73&lt;UP,LOOPBACK,RUNNING&gt; mtu 65536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550" y="8745220"/>
            <a:ext cx="202057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00">
                <a:solidFill>
                  <a:srgbClr val="EEEEEE"/>
                </a:solidFill>
                <a:latin typeface="Roboto"/>
              </a:rPr>
              <a:t> inet 127.0.0.1 netmask 255.0.0.0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7770" y="10195560"/>
            <a:ext cx="6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000">
                <a:solidFill>
                  <a:srgbClr val="000000"/>
                </a:solidFill>
                <a:latin typeface="Noto Serif"/>
              </a:rPr>
              <a:t>2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630" y="4052570"/>
            <a:ext cx="25400" cy="3238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9710" y="4052570"/>
            <a:ext cx="25400" cy="3238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330" y="4363720"/>
            <a:ext cx="1656080" cy="25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630" y="4052570"/>
            <a:ext cx="25400" cy="3238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9710" y="4052570"/>
            <a:ext cx="25400" cy="3238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6330" y="4363720"/>
            <a:ext cx="1656080" cy="25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31670" y="4376420"/>
            <a:ext cx="25400" cy="1404619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7900" y="4039870"/>
            <a:ext cx="1656079" cy="25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1280" y="4052570"/>
            <a:ext cx="25400" cy="3238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7900" y="4363720"/>
            <a:ext cx="1656079" cy="25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7900" y="4039870"/>
            <a:ext cx="1656079" cy="254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75200" y="4052570"/>
            <a:ext cx="25400" cy="3238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1280" y="4052570"/>
            <a:ext cx="25400" cy="3238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7900" y="4363720"/>
            <a:ext cx="1656079" cy="254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75200" y="4052570"/>
            <a:ext cx="25400" cy="3238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3240" y="4376420"/>
            <a:ext cx="25400" cy="1404619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44370" y="4795520"/>
            <a:ext cx="3671570" cy="254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11800" y="4768850"/>
            <a:ext cx="107950" cy="825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84800" y="4641850"/>
            <a:ext cx="361950" cy="3365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44370" y="5264150"/>
            <a:ext cx="3671570" cy="254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43100" y="5232400"/>
            <a:ext cx="107950" cy="825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16100" y="5105400"/>
            <a:ext cx="361950" cy="336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647700"/>
            <a:ext cx="6120130" cy="254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901700"/>
            <a:ext cx="6120130" cy="135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640080"/>
            <a:ext cx="6120130" cy="152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2252980"/>
            <a:ext cx="6120130" cy="1523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" y="647700"/>
            <a:ext cx="15239" cy="161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600" y="647700"/>
            <a:ext cx="15240" cy="161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362200"/>
            <a:ext cx="6120130" cy="254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" y="2616200"/>
            <a:ext cx="6120130" cy="98552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3703320"/>
            <a:ext cx="6120130" cy="254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90" y="3957320"/>
            <a:ext cx="6120130" cy="98551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5044440"/>
            <a:ext cx="6120130" cy="254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090" y="5298440"/>
            <a:ext cx="6120130" cy="36322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5763260"/>
            <a:ext cx="6120130" cy="254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90" y="6017260"/>
            <a:ext cx="6120130" cy="98551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7104380"/>
            <a:ext cx="6120130" cy="254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090" y="7358380"/>
            <a:ext cx="6120130" cy="48767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7947659"/>
            <a:ext cx="6120130" cy="254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90" y="8201659"/>
            <a:ext cx="6120130" cy="736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0230" y="224790"/>
            <a:ext cx="1656079" cy="25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3609" y="237490"/>
            <a:ext cx="25400" cy="21844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0230" y="224790"/>
            <a:ext cx="1656079" cy="25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0230" y="443230"/>
            <a:ext cx="1656079" cy="25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93609" y="237490"/>
            <a:ext cx="25400" cy="21844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7530" y="237490"/>
            <a:ext cx="25400" cy="21844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0230" y="443230"/>
            <a:ext cx="1656079" cy="25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7310" y="114300"/>
            <a:ext cx="2285999" cy="482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7530" y="237490"/>
            <a:ext cx="25400" cy="21844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50230" y="237490"/>
            <a:ext cx="1656079" cy="21844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40300" y="0"/>
            <a:ext cx="25400" cy="9652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53000" y="952500"/>
            <a:ext cx="2378709" cy="25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40300" y="0"/>
            <a:ext cx="25400" cy="9652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53000" y="0"/>
            <a:ext cx="2378709" cy="127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19009" y="0"/>
            <a:ext cx="25400" cy="9652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53000" y="952500"/>
            <a:ext cx="2378709" cy="25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53000" y="0"/>
            <a:ext cx="2378709" cy="127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19009" y="0"/>
            <a:ext cx="25400" cy="9652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114300"/>
            <a:ext cx="1257300" cy="25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40600" y="127000"/>
            <a:ext cx="25400" cy="2032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317500"/>
            <a:ext cx="1257300" cy="25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114300"/>
            <a:ext cx="1257300" cy="25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40600" y="127000"/>
            <a:ext cx="25400" cy="2032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3300" y="127000"/>
            <a:ext cx="25400" cy="2032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317500"/>
            <a:ext cx="1257300" cy="25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3300" y="127000"/>
            <a:ext cx="25400" cy="2032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92900" y="520700"/>
            <a:ext cx="660400" cy="25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0200" y="330200"/>
            <a:ext cx="25400" cy="2032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40600" y="330200"/>
            <a:ext cx="25400" cy="2032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92900" y="520700"/>
            <a:ext cx="660400" cy="254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40600" y="330200"/>
            <a:ext cx="25400" cy="2032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0200" y="330200"/>
            <a:ext cx="25400" cy="2032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661660" y="190500"/>
            <a:ext cx="4318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" sz="900">
                <a:solidFill>
                  <a:srgbClr val="005CB8"/>
                </a:solidFill>
                <a:latin typeface="Roboto"/>
              </a:rPr>
              <a:t>NAME :-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6000" y="199390"/>
            <a:ext cx="8407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800">
                <a:solidFill>
                  <a:srgbClr val="000000"/>
                </a:solidFill>
                <a:latin typeface="Roboto"/>
              </a:rPr>
              <a:t>PRANEETH </a:t>
            </a:r>
            <a:r>
              <a:rPr spc="0" u="sng" sz="800">
                <a:solidFill>
                  <a:srgbClr val="000000"/>
                </a:solidFill>
                <a:uFill>
                  <a:solidFill>
                    <a:srgbClr val="ffffff">
                      <a:alpha val="100000"/>
                    </a:srgbClr>
                  </a:solidFill>
                </a:uFill>
                <a:latin typeface="Roboto"/>
              </a:rPr>
              <a:t>SAI 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2540" y="393700"/>
            <a:ext cx="3111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5CB8"/>
                </a:solidFill>
                <a:latin typeface="Roboto"/>
              </a:rPr>
              <a:t>REG 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18300" y="402590"/>
            <a:ext cx="50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800">
                <a:solidFill>
                  <a:srgbClr val="000000"/>
                </a:solidFill>
                <a:latin typeface="Roboto"/>
              </a:rPr>
              <a:t>241501146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8990" y="707390"/>
            <a:ext cx="213359" cy="88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700">
                <a:solidFill>
                  <a:srgbClr val="FFFFFF"/>
                </a:solidFill>
                <a:latin typeface="Roboto"/>
              </a:rPr>
              <a:t>USER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450" y="722630"/>
            <a:ext cx="11049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50">
                <a:solidFill>
                  <a:srgbClr val="FFFFFF"/>
                </a:solidFill>
                <a:latin typeface="Roboto"/>
              </a:rPr>
              <a:t>@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0940" y="707390"/>
            <a:ext cx="213359" cy="88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700">
                <a:solidFill>
                  <a:srgbClr val="FFFFFF"/>
                </a:solidFill>
                <a:latin typeface="Roboto"/>
              </a:rPr>
              <a:t>USER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22400" y="722630"/>
            <a:ext cx="65151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50">
                <a:solidFill>
                  <a:srgbClr val="FFFFFF"/>
                </a:solidFill>
                <a:latin typeface="Roboto"/>
              </a:rPr>
              <a:t>-VirtualBox: ~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8990" y="975360"/>
            <a:ext cx="176529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5860" y="977900"/>
            <a:ext cx="5969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25550" y="97536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81150" y="977900"/>
            <a:ext cx="208026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EEEEEE"/>
                </a:solidFill>
                <a:latin typeface="Roboto"/>
              </a:rPr>
              <a:t>-VirtualBox:~$ ping -c 4 google.com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8990" y="1102360"/>
            <a:ext cx="320929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4" sz="800">
                <a:solidFill>
                  <a:srgbClr val="EEEEEE"/>
                </a:solidFill>
                <a:latin typeface="Roboto"/>
              </a:rPr>
              <a:t>PING google.com (142.250.195.78) 56(84) bytes of data.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8990" y="1226820"/>
            <a:ext cx="528955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8" sz="800">
                <a:solidFill>
                  <a:srgbClr val="EEEEEE"/>
                </a:solidFill>
                <a:latin typeface="Roboto"/>
              </a:rPr>
              <a:t>64 bytes from maa03s45-in-f14.1e100.net (142.250.195.78): icmp_seq=1 ttl=117 time=14.2 ms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8990" y="1351280"/>
            <a:ext cx="528955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8" sz="800">
                <a:solidFill>
                  <a:srgbClr val="EEEEEE"/>
                </a:solidFill>
                <a:latin typeface="Roboto"/>
              </a:rPr>
              <a:t>64 bytes from maa03s45-in-f14.1e100.net (142.250.195.78): icmp_seq=2 ttl=117 time=14.8 ms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8990" y="1475740"/>
            <a:ext cx="528955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8" sz="800">
                <a:solidFill>
                  <a:srgbClr val="EEEEEE"/>
                </a:solidFill>
                <a:latin typeface="Roboto"/>
              </a:rPr>
              <a:t>64 bytes from maa03s45-in-f14.1e100.net (142.250.195.78): icmp_seq=3 ttl=117 time=13.9 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8990" y="1600200"/>
            <a:ext cx="528955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8" sz="800">
                <a:solidFill>
                  <a:srgbClr val="EEEEEE"/>
                </a:solidFill>
                <a:latin typeface="Roboto"/>
              </a:rPr>
              <a:t>64 bytes from maa03s45-in-f14.1e100.net (142.250.195.78): icmp_seq=4 ttl=117 time=15.2 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8990" y="1849120"/>
            <a:ext cx="202057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0" sz="800">
                <a:solidFill>
                  <a:srgbClr val="EEEEEE"/>
                </a:solidFill>
                <a:latin typeface="Roboto"/>
              </a:rPr>
              <a:t>--- google.com ping statistics ---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990" y="1973580"/>
            <a:ext cx="368554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00">
                <a:solidFill>
                  <a:srgbClr val="EEEEEE"/>
                </a:solidFill>
                <a:latin typeface="Roboto"/>
              </a:rPr>
              <a:t>4 packets transmitted, 4 received, 0% packet loss, time 3005ms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8990" y="2098040"/>
            <a:ext cx="309118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1" sz="800">
                <a:solidFill>
                  <a:srgbClr val="EEEEEE"/>
                </a:solidFill>
                <a:latin typeface="Roboto"/>
              </a:rPr>
              <a:t>rtt min/avg/max/mdev = 13.904/14.525/15.230/0.512 ms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720090" y="2362200"/>
          <a:ext cx="6120130" cy="1239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239520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85090" algn="l">
                        <a:lnSpc>
                          <a:spcPts val="969"/>
                        </a:lnSpc>
                      </a:pP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106" sz="850">
                          <a:solidFill>
                            <a:srgbClr val="FFFFFF"/>
                          </a:solidFill>
                          <a:latin typeface="Roboto"/>
                        </a:rPr>
                        <a:t>@</a:t>
                      </a: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0" sz="850">
                          <a:solidFill>
                            <a:srgbClr val="FFFFFF"/>
                          </a:solidFill>
                          <a:latin typeface="Roboto"/>
                        </a:rPr>
                        <a:t>-VirtualBox: ~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60"/>
                        </a:spcBef>
                      </a:pPr>
                      <a:r>
                        <a:rPr spc="-17" sz="600">
                          <a:solidFill>
                            <a:srgbClr val="EEEEEE"/>
                          </a:solidFill>
                          <a:latin typeface="Roboto"/>
                        </a:rPr>
                        <a:t>USER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1165860" y="2692400"/>
            <a:ext cx="596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25550" y="268986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81150" y="2692400"/>
            <a:ext cx="213995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sz="800">
                <a:solidFill>
                  <a:srgbClr val="EEEEEE"/>
                </a:solidFill>
                <a:latin typeface="Roboto"/>
              </a:rPr>
              <a:t>-VirtualBox:~$ traceroute google.com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8990" y="2816860"/>
            <a:ext cx="422021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8" sz="800">
                <a:solidFill>
                  <a:srgbClr val="EEEEEE"/>
                </a:solidFill>
                <a:latin typeface="Roboto"/>
              </a:rPr>
              <a:t>traceroute to google.com (142.250.195.78), 30 hops max, 60 byte packets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8990" y="2941320"/>
            <a:ext cx="332867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sz="800">
                <a:solidFill>
                  <a:srgbClr val="EEEEEE"/>
                </a:solidFill>
                <a:latin typeface="Roboto"/>
              </a:rPr>
              <a:t> 1 _gateway (192.168.1.1) 1.102 ms 1.045 ms 0.987 ms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8990" y="3065780"/>
            <a:ext cx="326898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EEEEEE"/>
                </a:solidFill>
                <a:latin typeface="Roboto"/>
              </a:rPr>
              <a:t> 2 10.20.0.1 (10.20.0.1) 4.321 ms 4.287 ms 4.410 ms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8990" y="3190240"/>
            <a:ext cx="33883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EEEEEE"/>
                </a:solidFill>
                <a:latin typeface="Roboto"/>
              </a:rPr>
              <a:t> 3 172.16.5.9 (172.16.5.9) 8.765 ms 8.801 ms 8.730 ms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8990" y="3314700"/>
            <a:ext cx="380365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EEEEEE"/>
                </a:solidFill>
                <a:latin typeface="Roboto"/>
              </a:rPr>
              <a:t> 4 72.14.215.85 (72.14.215.85) 12.543 ms 12.498 ms 12.610 ms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8990" y="3439160"/>
            <a:ext cx="46951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7" sz="800">
                <a:solidFill>
                  <a:srgbClr val="EEEEEE"/>
                </a:solidFill>
                <a:latin typeface="Roboto"/>
              </a:rPr>
              <a:t> 5 maa03s45-in-f14.1e100.net (142.250.195.78) 14.230 ms 14.187 ms 14.301 ms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720090" y="3703320"/>
          <a:ext cx="6120130" cy="1239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239519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85090" algn="l">
                        <a:lnSpc>
                          <a:spcPts val="969"/>
                        </a:lnSpc>
                      </a:pP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106" sz="850">
                          <a:solidFill>
                            <a:srgbClr val="FFFFFF"/>
                          </a:solidFill>
                          <a:latin typeface="Roboto"/>
                        </a:rPr>
                        <a:t>@</a:t>
                      </a: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0" sz="850">
                          <a:solidFill>
                            <a:srgbClr val="FFFFFF"/>
                          </a:solidFill>
                          <a:latin typeface="Roboto"/>
                        </a:rPr>
                        <a:t>-VirtualBox: ~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-17" sz="600">
                          <a:solidFill>
                            <a:srgbClr val="EEEEEE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118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1165860" y="4033520"/>
            <a:ext cx="5969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25550" y="4030979"/>
            <a:ext cx="176530" cy="736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81150" y="4033520"/>
            <a:ext cx="202183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7" sz="800">
                <a:solidFill>
                  <a:srgbClr val="EEEEEE"/>
                </a:solidFill>
                <a:latin typeface="Roboto"/>
              </a:rPr>
              <a:t>-VirtualBox:~$ nslookup google.com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8990" y="4157979"/>
            <a:ext cx="160528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6" sz="800">
                <a:solidFill>
                  <a:srgbClr val="EEEEEE"/>
                </a:solidFill>
                <a:latin typeface="Roboto"/>
              </a:rPr>
              <a:t>Server:     192.168.1.1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8990" y="4282440"/>
            <a:ext cx="178307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2" sz="800">
                <a:solidFill>
                  <a:srgbClr val="EEEEEE"/>
                </a:solidFill>
                <a:latin typeface="Roboto"/>
              </a:rPr>
              <a:t>Address:    192.168.1.1#53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8990" y="4531360"/>
            <a:ext cx="148589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2" sz="800">
                <a:solidFill>
                  <a:srgbClr val="EEEEEE"/>
                </a:solidFill>
                <a:latin typeface="Roboto"/>
              </a:rPr>
              <a:t>Non-authoritative answer: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8990" y="4655820"/>
            <a:ext cx="106934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7" sz="800">
                <a:solidFill>
                  <a:srgbClr val="EEEEEE"/>
                </a:solidFill>
                <a:latin typeface="Roboto"/>
              </a:rPr>
              <a:t>Name:  google.com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8990" y="4780280"/>
            <a:ext cx="136652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800">
                <a:solidFill>
                  <a:srgbClr val="EEEEEE"/>
                </a:solidFill>
                <a:latin typeface="Roboto"/>
              </a:rPr>
              <a:t>Address: 142.250.195.78</a:t>
            </a: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720090" y="5044440"/>
          <a:ext cx="6120130" cy="617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617220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85090" algn="l">
                        <a:lnSpc>
                          <a:spcPts val="969"/>
                        </a:lnSpc>
                      </a:pP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106" sz="850">
                          <a:solidFill>
                            <a:srgbClr val="FFFFFF"/>
                          </a:solidFill>
                          <a:latin typeface="Roboto"/>
                        </a:rPr>
                        <a:t>@</a:t>
                      </a: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0" sz="850">
                          <a:solidFill>
                            <a:srgbClr val="FFFFFF"/>
                          </a:solidFill>
                          <a:latin typeface="Roboto"/>
                        </a:rPr>
                        <a:t>-VirtualBox: ~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-17" sz="600">
                          <a:solidFill>
                            <a:srgbClr val="EEEEEE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1165860" y="5374640"/>
            <a:ext cx="596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25550" y="5372100"/>
            <a:ext cx="176530" cy="736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81150" y="5374640"/>
            <a:ext cx="213995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800">
                <a:solidFill>
                  <a:srgbClr val="EEEEEE"/>
                </a:solidFill>
                <a:latin typeface="Roboto"/>
              </a:rPr>
              <a:t>-VirtualBox:~$ dig google.com +short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8990" y="5499100"/>
            <a:ext cx="83184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9" sz="800">
                <a:solidFill>
                  <a:srgbClr val="EEEEEE"/>
                </a:solidFill>
                <a:latin typeface="Roboto"/>
              </a:rPr>
              <a:t>142.250.195.78</a:t>
            </a:r>
          </a:p>
        </p:txBody>
      </p:sp>
      <p:graphicFrame>
        <p:nvGraphicFramePr>
          <p:cNvPr id="102" name="Table 101"/>
          <p:cNvGraphicFramePr>
            <a:graphicFrameLocks noGrp="1"/>
          </p:cNvGraphicFramePr>
          <p:nvPr/>
        </p:nvGraphicFramePr>
        <p:xfrm>
          <a:off x="720090" y="5763260"/>
          <a:ext cx="6120130" cy="1239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239519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85090" algn="l">
                        <a:lnSpc>
                          <a:spcPts val="969"/>
                        </a:lnSpc>
                      </a:pP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106" sz="850">
                          <a:solidFill>
                            <a:srgbClr val="FFFFFF"/>
                          </a:solidFill>
                          <a:latin typeface="Roboto"/>
                        </a:rPr>
                        <a:t>@</a:t>
                      </a: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0" sz="850">
                          <a:solidFill>
                            <a:srgbClr val="FFFFFF"/>
                          </a:solidFill>
                          <a:latin typeface="Roboto"/>
                        </a:rPr>
                        <a:t>-VirtualBox: ~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60"/>
                        </a:spcBef>
                      </a:pPr>
                      <a:r>
                        <a:rPr spc="-17" sz="600">
                          <a:solidFill>
                            <a:srgbClr val="EEEEEE"/>
                          </a:solidFill>
                          <a:latin typeface="Roboto"/>
                        </a:rPr>
                        <a:t>USER</a:t>
                      </a: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TextBox 102"/>
          <p:cNvSpPr txBox="1"/>
          <p:nvPr/>
        </p:nvSpPr>
        <p:spPr>
          <a:xfrm>
            <a:off x="1165860" y="6093460"/>
            <a:ext cx="596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25550" y="609092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81150" y="6093460"/>
            <a:ext cx="166497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EEEEEE"/>
                </a:solidFill>
                <a:latin typeface="Roboto"/>
              </a:rPr>
              <a:t>-VirtualBox:~$ netstat -tuln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8990" y="6217920"/>
            <a:ext cx="249682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EEEEEE"/>
                </a:solidFill>
                <a:latin typeface="Roboto"/>
              </a:rPr>
              <a:t>Active Internet connections (only servers)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8990" y="6342380"/>
            <a:ext cx="433832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1" sz="800">
                <a:solidFill>
                  <a:srgbClr val="EEEEEE"/>
                </a:solidFill>
                <a:latin typeface="Roboto"/>
              </a:rPr>
              <a:t>Proto Recv-Q Send-Q Local Address      Foreign Address     State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8990" y="6466840"/>
            <a:ext cx="439801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6" sz="800">
                <a:solidFill>
                  <a:srgbClr val="EEEEEE"/>
                </a:solidFill>
                <a:latin typeface="Roboto"/>
              </a:rPr>
              <a:t>tcp    0   0 0.0.0.0:22       0.0.0.0:*        LISTEN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8990" y="6591300"/>
            <a:ext cx="439801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3" sz="800">
                <a:solidFill>
                  <a:srgbClr val="EEEEEE"/>
                </a:solidFill>
                <a:latin typeface="Roboto"/>
              </a:rPr>
              <a:t>tcp    0   0 127.0.0.1:631      0.0.0.0:*        LISTEN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8990" y="6715759"/>
            <a:ext cx="439801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0" sz="800">
                <a:solidFill>
                  <a:srgbClr val="EEEEEE"/>
                </a:solidFill>
                <a:latin typeface="Roboto"/>
              </a:rPr>
              <a:t>tcp6    0   0 :::80          :::*          LISTEN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8990" y="6840220"/>
            <a:ext cx="314960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5" sz="800">
                <a:solidFill>
                  <a:srgbClr val="EEEEEE"/>
                </a:solidFill>
                <a:latin typeface="Roboto"/>
              </a:rPr>
              <a:t>udp    0   0 0.0.0.0:68       0.0.0.0:*</a:t>
            </a: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720090" y="7104380"/>
          <a:ext cx="6120130" cy="7416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741679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85090" algn="l">
                        <a:lnSpc>
                          <a:spcPts val="969"/>
                        </a:lnSpc>
                      </a:pP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106" sz="850">
                          <a:solidFill>
                            <a:srgbClr val="FFFFFF"/>
                          </a:solidFill>
                          <a:latin typeface="Roboto"/>
                        </a:rPr>
                        <a:t>@</a:t>
                      </a: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0" sz="850">
                          <a:solidFill>
                            <a:srgbClr val="FFFFFF"/>
                          </a:solidFill>
                          <a:latin typeface="Roboto"/>
                        </a:rPr>
                        <a:t>-VirtualBox: ~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-17" sz="600">
                          <a:solidFill>
                            <a:srgbClr val="EEEEEE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1165860" y="7434580"/>
            <a:ext cx="596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25550" y="743204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81150" y="7434580"/>
            <a:ext cx="124841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EEEEEE"/>
                </a:solidFill>
                <a:latin typeface="Roboto"/>
              </a:rPr>
              <a:t>-VirtualBox:~$ arp -a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8990" y="7559040"/>
            <a:ext cx="362585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6" sz="800">
                <a:solidFill>
                  <a:srgbClr val="EEEEEE"/>
                </a:solidFill>
                <a:latin typeface="Roboto"/>
              </a:rPr>
              <a:t>_gateway (192.168.1.1) at c4:e9:84:2a:5b:10 [ether] on enp0s3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8990" y="7683500"/>
            <a:ext cx="326898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EEEEEE"/>
                </a:solidFill>
                <a:latin typeface="Roboto"/>
              </a:rPr>
              <a:t>? (192.168.1.12) at 3c:52:82:7d:11:9e [ether] on enp0s3</a:t>
            </a:r>
          </a:p>
        </p:txBody>
      </p: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720090" y="7947659"/>
          <a:ext cx="6120130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990600">
                <a:tc>
                  <a:txBody>
                    <a:bodyPr/>
                    <a:lstStyle/>
                    <a:p>
                      <a:pPr>
                        <a:lnSpc>
                          <a:spcPts val="440"/>
                        </a:lnSpc>
                      </a:pPr>
                    </a:p>
                    <a:p>
                      <a:pPr marL="85090" algn="l">
                        <a:lnSpc>
                          <a:spcPts val="969"/>
                        </a:lnSpc>
                      </a:pP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106" sz="850">
                          <a:solidFill>
                            <a:srgbClr val="FFFFFF"/>
                          </a:solidFill>
                          <a:latin typeface="Roboto"/>
                        </a:rPr>
                        <a:t>@</a:t>
                      </a:r>
                      <a:r>
                        <a:rPr spc="-5" sz="700">
                          <a:solidFill>
                            <a:srgbClr val="FFFFFF"/>
                          </a:solidFill>
                          <a:latin typeface="Roboto"/>
                        </a:rPr>
                        <a:t>USER</a:t>
                      </a:r>
                      <a:r>
                        <a:rPr spc="0" sz="850">
                          <a:solidFill>
                            <a:srgbClr val="FFFFFF"/>
                          </a:solidFill>
                          <a:latin typeface="Roboto"/>
                        </a:rPr>
                        <a:t>-VirtualBox: ~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-17" sz="600">
                          <a:solidFill>
                            <a:srgbClr val="EEEEEE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20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9" name="TextBox 118"/>
          <p:cNvSpPr txBox="1"/>
          <p:nvPr/>
        </p:nvSpPr>
        <p:spPr>
          <a:xfrm>
            <a:off x="1165860" y="8277859"/>
            <a:ext cx="596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9" sz="800">
                <a:solidFill>
                  <a:srgbClr val="EEEEEE"/>
                </a:solidFill>
                <a:latin typeface="Roboto"/>
              </a:rPr>
              <a:t>@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25550" y="827532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EEEEEE"/>
                </a:solidFill>
                <a:latin typeface="Roboto"/>
              </a:rPr>
              <a:t>USER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581150" y="8277859"/>
            <a:ext cx="136778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EEEEEE"/>
                </a:solidFill>
                <a:latin typeface="Roboto"/>
              </a:rPr>
              <a:t>-VirtualBox:~$ route -n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8990" y="8402320"/>
            <a:ext cx="136652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EEEEEE"/>
                </a:solidFill>
                <a:latin typeface="Roboto"/>
              </a:rPr>
              <a:t>Kernel IP routing table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08990" y="8526780"/>
            <a:ext cx="457708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06" sz="800">
                <a:solidFill>
                  <a:srgbClr val="EEEEEE"/>
                </a:solidFill>
                <a:latin typeface="Roboto"/>
              </a:rPr>
              <a:t>Destination   Gateway     Genmask     Flags Metric Ref  Use Iface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8990" y="8651240"/>
            <a:ext cx="463550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5" sz="800">
                <a:solidFill>
                  <a:srgbClr val="EEEEEE"/>
                </a:solidFill>
                <a:latin typeface="Roboto"/>
              </a:rPr>
              <a:t>0.0.0.0     192.168.1.1   0.0.0.0     UG  100  0    0 enp0s3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08990" y="8775700"/>
            <a:ext cx="463550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3" sz="800">
                <a:solidFill>
                  <a:srgbClr val="EEEEEE"/>
                </a:solidFill>
                <a:latin typeface="Roboto"/>
              </a:rPr>
              <a:t>192.168.1.0   0.0.0.0     255.255.255.0  U   100  0    0 enp0s3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747770" y="10195560"/>
            <a:ext cx="6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000">
                <a:solidFill>
                  <a:srgbClr val="000000"/>
                </a:solidFill>
                <a:latin typeface="Noto Serif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901700"/>
            <a:ext cx="6120130" cy="254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155700"/>
            <a:ext cx="6120130" cy="3632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894080"/>
            <a:ext cx="6120130" cy="1523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1511300"/>
            <a:ext cx="6120130" cy="152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" y="901700"/>
            <a:ext cx="15239" cy="61721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600" y="901700"/>
            <a:ext cx="15240" cy="61721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" y="1620520"/>
            <a:ext cx="6120130" cy="254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4330700"/>
            <a:ext cx="6120130" cy="254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4584700"/>
            <a:ext cx="6120130" cy="160782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" y="6294120"/>
            <a:ext cx="6120130" cy="254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90" y="6548120"/>
            <a:ext cx="6120130" cy="16078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" y="8257540"/>
            <a:ext cx="6120130" cy="254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090" y="8511540"/>
            <a:ext cx="6120130" cy="98551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3609" y="237490"/>
            <a:ext cx="25400" cy="2184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7530" y="237490"/>
            <a:ext cx="25400" cy="21844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0230" y="443230"/>
            <a:ext cx="1656079" cy="25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7310" y="114300"/>
            <a:ext cx="2285999" cy="482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7530" y="237490"/>
            <a:ext cx="25400" cy="21844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0230" y="237490"/>
            <a:ext cx="1656079" cy="21844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0230" y="224790"/>
            <a:ext cx="1656079" cy="25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0230" y="224790"/>
            <a:ext cx="1656079" cy="25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3609" y="237490"/>
            <a:ext cx="25400" cy="21844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0230" y="443230"/>
            <a:ext cx="1656079" cy="25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40300" y="0"/>
            <a:ext cx="25400" cy="9652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0" y="0"/>
            <a:ext cx="2378709" cy="12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9009" y="0"/>
            <a:ext cx="25400" cy="965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0" y="952500"/>
            <a:ext cx="2378709" cy="25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0" y="0"/>
            <a:ext cx="2378709" cy="12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9009" y="0"/>
            <a:ext cx="25400" cy="9652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40300" y="0"/>
            <a:ext cx="25400" cy="9652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0" y="952500"/>
            <a:ext cx="2378709" cy="25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317500"/>
            <a:ext cx="1257300" cy="25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114300"/>
            <a:ext cx="1257300" cy="25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0600" y="127000"/>
            <a:ext cx="25400" cy="2032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83300" y="127000"/>
            <a:ext cx="25400" cy="2032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317500"/>
            <a:ext cx="1257300" cy="25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83300" y="127000"/>
            <a:ext cx="25400" cy="2032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114300"/>
            <a:ext cx="1257300" cy="25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0600" y="127000"/>
            <a:ext cx="25400" cy="2032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0600" y="330200"/>
            <a:ext cx="25400" cy="2032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92900" y="520700"/>
            <a:ext cx="660400" cy="25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0600" y="330200"/>
            <a:ext cx="25400" cy="2032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80200" y="330200"/>
            <a:ext cx="25400" cy="2032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92900" y="520700"/>
            <a:ext cx="660400" cy="25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80200" y="330200"/>
            <a:ext cx="25400" cy="2032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661660" y="190500"/>
            <a:ext cx="4318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" sz="900">
                <a:solidFill>
                  <a:srgbClr val="005CB8"/>
                </a:solidFill>
                <a:latin typeface="Roboto"/>
              </a:rPr>
              <a:t>NAME :-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0" y="199390"/>
            <a:ext cx="8407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800">
                <a:solidFill>
                  <a:srgbClr val="000000"/>
                </a:solidFill>
                <a:latin typeface="Roboto"/>
              </a:rPr>
              <a:t>PRANEETH </a:t>
            </a:r>
            <a:r>
              <a:rPr spc="0" u="sng" sz="800">
                <a:solidFill>
                  <a:srgbClr val="000000"/>
                </a:solidFill>
                <a:uFill>
                  <a:solidFill>
                    <a:srgbClr val="ffffff">
                      <a:alpha val="100000"/>
                    </a:srgbClr>
                  </a:solidFill>
                </a:uFill>
                <a:latin typeface="Roboto"/>
              </a:rPr>
              <a:t>SAI 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2540" y="393700"/>
            <a:ext cx="3111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5CB8"/>
                </a:solidFill>
                <a:latin typeface="Roboto"/>
              </a:rPr>
              <a:t>REG 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18300" y="402590"/>
            <a:ext cx="50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800">
                <a:solidFill>
                  <a:srgbClr val="000000"/>
                </a:solidFill>
                <a:latin typeface="Roboto"/>
              </a:rPr>
              <a:t>241501146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0090" y="685800"/>
            <a:ext cx="660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000000"/>
                </a:solidFill>
                <a:latin typeface="Noto Serif"/>
              </a:rPr>
              <a:t>Windows: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8990" y="976630"/>
            <a:ext cx="87629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850">
                <a:solidFill>
                  <a:srgbClr val="000000"/>
                </a:solidFill>
                <a:latin typeface="Roboto"/>
              </a:rPr>
              <a:t>Command Prompt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990" y="1231900"/>
            <a:ext cx="53466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8" sz="800">
                <a:solidFill>
                  <a:srgbClr val="CCCCCC"/>
                </a:solidFill>
                <a:latin typeface="Roboto"/>
              </a:rPr>
              <a:t>C:\Users\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43660" y="122936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CCCCCC"/>
                </a:solidFill>
                <a:latin typeface="Roboto"/>
              </a:rPr>
              <a:t>USER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00530" y="1231900"/>
            <a:ext cx="53466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800">
                <a:solidFill>
                  <a:srgbClr val="CCCCCC"/>
                </a:solidFill>
                <a:latin typeface="Roboto"/>
              </a:rPr>
              <a:t>&gt;hostname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8990" y="1356360"/>
            <a:ext cx="47497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00">
                <a:solidFill>
                  <a:srgbClr val="CCCCCC"/>
                </a:solidFill>
                <a:latin typeface="Roboto"/>
              </a:rPr>
              <a:t>DESKTOP-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3970" y="1353820"/>
            <a:ext cx="177800" cy="736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" sz="600">
                <a:solidFill>
                  <a:srgbClr val="CCCCCC"/>
                </a:solidFill>
                <a:latin typeface="Roboto"/>
              </a:rPr>
              <a:t>USER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720090" y="1620520"/>
          <a:ext cx="6120130" cy="2608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2608580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8509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000000"/>
                          </a:solidFill>
                          <a:latin typeface="Roboto"/>
                        </a:rPr>
                        <a:t>Command Prompt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88" sz="800">
                          <a:solidFill>
                            <a:srgbClr val="CCCCCC"/>
                          </a:solidFill>
                          <a:latin typeface="Roboto"/>
                        </a:rPr>
                        <a:t>C:\Users\</a:t>
                      </a:r>
                      <a:r>
                        <a:rPr spc="-17" sz="600">
                          <a:solidFill>
                            <a:srgbClr val="CCCCCC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1180"/>
                        </a:spcBef>
                      </a:pPr>
                    </a:p>
                    <a:p>
                      <a:pPr marL="204470" algn="l">
                        <a:lnSpc>
                          <a:spcPts val="800"/>
                        </a:lnSpc>
                        <a:spcBef>
                          <a:spcPts val="1160"/>
                        </a:spcBef>
                      </a:pPr>
                    </a:p>
                    <a:p>
                      <a:pPr marL="204470" algn="l">
                        <a:lnSpc>
                          <a:spcPts val="980"/>
                        </a:lnSpc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1180"/>
                        </a:spcBef>
                      </a:pPr>
                    </a:p>
                    <a:p>
                      <a:pPr marL="20447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solidFill>
                      <a:srgbClr val="000000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1700530" y="1950720"/>
            <a:ext cx="83185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5" sz="800">
                <a:solidFill>
                  <a:srgbClr val="CCCCCC"/>
                </a:solidFill>
                <a:latin typeface="Roboto"/>
              </a:rPr>
              <a:t>&gt;ipconfig /all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8990" y="2199640"/>
            <a:ext cx="142621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800">
                <a:solidFill>
                  <a:srgbClr val="CCCCCC"/>
                </a:solidFill>
                <a:latin typeface="Roboto"/>
              </a:rPr>
              <a:t>Windows IP Configuration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369" y="2448560"/>
            <a:ext cx="267462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9" sz="800">
                <a:solidFill>
                  <a:srgbClr val="CCCCCC"/>
                </a:solidFill>
                <a:latin typeface="Roboto"/>
              </a:rPr>
              <a:t> Host Name . . . . . . . . . . . . : DESKTOP-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02990" y="2446020"/>
            <a:ext cx="176530" cy="736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CCCCCC"/>
                </a:solidFill>
                <a:latin typeface="Roboto"/>
              </a:rPr>
              <a:t>USER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369" y="2573020"/>
            <a:ext cx="213868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3" sz="800">
                <a:solidFill>
                  <a:srgbClr val="CCCCCC"/>
                </a:solidFill>
                <a:latin typeface="Roboto"/>
              </a:rPr>
              <a:t> Primary Dns Suffix . . . . . . . 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8369" y="2697480"/>
            <a:ext cx="255524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2" sz="800">
                <a:solidFill>
                  <a:srgbClr val="CCCCCC"/>
                </a:solidFill>
                <a:latin typeface="Roboto"/>
              </a:rPr>
              <a:t> Node Type . . . . . . . . . . . . : Hybrid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8369" y="2821940"/>
            <a:ext cx="231775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0" sz="800">
                <a:solidFill>
                  <a:srgbClr val="CCCCCC"/>
                </a:solidFill>
                <a:latin typeface="Roboto"/>
              </a:rPr>
              <a:t> IP Routing Enabled. . . . . . . . : No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8990" y="3070860"/>
            <a:ext cx="154559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CCCCCC"/>
                </a:solidFill>
                <a:latin typeface="Roboto"/>
              </a:rPr>
              <a:t>Ethernet adapter Ethernet: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8369" y="3319779"/>
            <a:ext cx="32092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sz="800">
                <a:solidFill>
                  <a:srgbClr val="CCCCCC"/>
                </a:solidFill>
                <a:latin typeface="Roboto"/>
              </a:rPr>
              <a:t> Physical Address. . . . . . . . . : 00-1A-2B-3C-4D-5E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8369" y="3444240"/>
            <a:ext cx="237744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8" sz="800">
                <a:solidFill>
                  <a:srgbClr val="CCCCCC"/>
                </a:solidFill>
                <a:latin typeface="Roboto"/>
              </a:rPr>
              <a:t> DHCP Enabled. . . . . . . . . . . : Yes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8369" y="3568700"/>
            <a:ext cx="356615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2" sz="800">
                <a:solidFill>
                  <a:srgbClr val="CCCCCC"/>
                </a:solidFill>
                <a:latin typeface="Roboto"/>
              </a:rPr>
              <a:t> IPv4 Address. . . . . . . . . . . : 192.168.1.25(Preferred)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8369" y="3693160"/>
            <a:ext cx="29718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6" sz="800">
                <a:solidFill>
                  <a:srgbClr val="CCCCCC"/>
                </a:solidFill>
                <a:latin typeface="Roboto"/>
              </a:rPr>
              <a:t> Subnet Mask . . . . . . . . . . . : 255.255.255.0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8369" y="3817620"/>
            <a:ext cx="285242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4" sz="800">
                <a:solidFill>
                  <a:srgbClr val="CCCCCC"/>
                </a:solidFill>
                <a:latin typeface="Roboto"/>
              </a:rPr>
              <a:t> Default Gateway . . . . . . . . . : 192.168.1.1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8369" y="3942079"/>
            <a:ext cx="285242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4" sz="800">
                <a:solidFill>
                  <a:srgbClr val="CCCCCC"/>
                </a:solidFill>
                <a:latin typeface="Roboto"/>
              </a:rPr>
              <a:t> DHCP Server . . . . . . . . . . . : 192.168.1.1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8369" y="4066540"/>
            <a:ext cx="261493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1" sz="800">
                <a:solidFill>
                  <a:srgbClr val="CCCCCC"/>
                </a:solidFill>
                <a:latin typeface="Roboto"/>
              </a:rPr>
              <a:t> DNS Servers . . . . . . . . . . . : 8.8.8.8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720090" y="4330700"/>
          <a:ext cx="6120130" cy="1861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861820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8509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000000"/>
                          </a:solidFill>
                          <a:latin typeface="Roboto"/>
                        </a:rPr>
                        <a:t>Command Prompt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88" sz="800">
                          <a:solidFill>
                            <a:srgbClr val="CCCCCC"/>
                          </a:solidFill>
                          <a:latin typeface="Roboto"/>
                        </a:rPr>
                        <a:t>C:\Users\</a:t>
                      </a:r>
                      <a:r>
                        <a:rPr spc="-17" sz="600">
                          <a:solidFill>
                            <a:srgbClr val="CCCCCC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1700530" y="4660900"/>
            <a:ext cx="95123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sz="800">
                <a:solidFill>
                  <a:srgbClr val="CCCCCC"/>
                </a:solidFill>
                <a:latin typeface="Roboto"/>
              </a:rPr>
              <a:t>&gt;ping google.com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8990" y="4909820"/>
            <a:ext cx="344678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00">
                <a:solidFill>
                  <a:srgbClr val="CCCCCC"/>
                </a:solidFill>
                <a:latin typeface="Roboto"/>
              </a:rPr>
              <a:t>Pinging google.com [142.250.195.78] with 32 bytes of data: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8990" y="5034280"/>
            <a:ext cx="31496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sz="800">
                <a:solidFill>
                  <a:srgbClr val="CCCCCC"/>
                </a:solidFill>
                <a:latin typeface="Roboto"/>
              </a:rPr>
              <a:t>Reply from 142.250.195.78: bytes=32 time=15ms TTL=117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8990" y="5158740"/>
            <a:ext cx="31496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sz="800">
                <a:solidFill>
                  <a:srgbClr val="CCCCCC"/>
                </a:solidFill>
                <a:latin typeface="Roboto"/>
              </a:rPr>
              <a:t>Reply from 142.250.195.78: bytes=32 time=14ms TTL=117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8990" y="5283200"/>
            <a:ext cx="31496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sz="800">
                <a:solidFill>
                  <a:srgbClr val="CCCCCC"/>
                </a:solidFill>
                <a:latin typeface="Roboto"/>
              </a:rPr>
              <a:t>Reply from 142.250.195.78: bytes=32 time=14ms TTL=117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8990" y="5407660"/>
            <a:ext cx="31496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sz="800">
                <a:solidFill>
                  <a:srgbClr val="CCCCCC"/>
                </a:solidFill>
                <a:latin typeface="Roboto"/>
              </a:rPr>
              <a:t>Reply from 142.250.195.78: bytes=32 time=16ms TTL=117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8990" y="5656580"/>
            <a:ext cx="20802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8" sz="800">
                <a:solidFill>
                  <a:srgbClr val="CCCCCC"/>
                </a:solidFill>
                <a:latin typeface="Roboto"/>
              </a:rPr>
              <a:t>Ping statistics for 142.250.195.78: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6790" y="5781040"/>
            <a:ext cx="315087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8" sz="800">
                <a:solidFill>
                  <a:srgbClr val="CCCCCC"/>
                </a:solidFill>
                <a:latin typeface="Roboto"/>
              </a:rPr>
              <a:t> Packets: Sent = 4, Received = 4, Lost = 0 (0% loss),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8990" y="5905500"/>
            <a:ext cx="273431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2" sz="800">
                <a:solidFill>
                  <a:srgbClr val="CCCCCC"/>
                </a:solidFill>
                <a:latin typeface="Roboto"/>
              </a:rPr>
              <a:t>Approximate round trip times in milli-seconds: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6790" y="6029960"/>
            <a:ext cx="27940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sz="800">
                <a:solidFill>
                  <a:srgbClr val="CCCCCC"/>
                </a:solidFill>
                <a:latin typeface="Roboto"/>
              </a:rPr>
              <a:t> Minimum = 14ms, Maximum = 16ms, Average = 14ms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720090" y="6294120"/>
          <a:ext cx="6120130" cy="1861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861820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8509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000000"/>
                          </a:solidFill>
                          <a:latin typeface="Roboto"/>
                        </a:rPr>
                        <a:t>Command Prompt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88" sz="800">
                          <a:solidFill>
                            <a:srgbClr val="CCCCCC"/>
                          </a:solidFill>
                          <a:latin typeface="Roboto"/>
                        </a:rPr>
                        <a:t>C:\Users\</a:t>
                      </a:r>
                      <a:r>
                        <a:rPr spc="-17" sz="600">
                          <a:solidFill>
                            <a:srgbClr val="CCCCCC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  <a:p>
                      <a:pPr marL="14478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  <a:p>
                      <a:pPr marL="85090" algn="l">
                        <a:lnSpc>
                          <a:spcPts val="780"/>
                        </a:lnSpc>
                        <a:spcBef>
                          <a:spcPts val="11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1700530" y="6624320"/>
            <a:ext cx="112903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0" sz="800">
                <a:solidFill>
                  <a:srgbClr val="CCCCCC"/>
                </a:solidFill>
                <a:latin typeface="Roboto"/>
              </a:rPr>
              <a:t>&gt;tracert google.com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8990" y="6873240"/>
            <a:ext cx="261493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8" sz="800">
                <a:solidFill>
                  <a:srgbClr val="CCCCCC"/>
                </a:solidFill>
                <a:latin typeface="Roboto"/>
              </a:rPr>
              <a:t>Tracing route to google.com [142.250.195.78]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8990" y="6997700"/>
            <a:ext cx="154559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sz="800">
                <a:solidFill>
                  <a:srgbClr val="CCCCCC"/>
                </a:solidFill>
                <a:latin typeface="Roboto"/>
              </a:rPr>
              <a:t>over a maximum of 30 hops: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8680" y="7246620"/>
            <a:ext cx="249554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6" sz="800">
                <a:solidFill>
                  <a:srgbClr val="CCCCCC"/>
                </a:solidFill>
                <a:latin typeface="Roboto"/>
              </a:rPr>
              <a:t> 1  &lt;1 ms  &lt;1 ms  &lt;1 ms 192.168.1.1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680" y="7371080"/>
            <a:ext cx="237744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6" sz="800">
                <a:solidFill>
                  <a:srgbClr val="CCCCCC"/>
                </a:solidFill>
                <a:latin typeface="Roboto"/>
              </a:rPr>
              <a:t> 2   4 ms   4 ms   4 ms 10.20.0.1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" y="7495540"/>
            <a:ext cx="243713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0" sz="800">
                <a:solidFill>
                  <a:srgbClr val="CCCCCC"/>
                </a:solidFill>
                <a:latin typeface="Roboto"/>
              </a:rPr>
              <a:t> 3   9 ms   8 ms   9 ms 172.16.5.9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" y="7620000"/>
            <a:ext cx="255524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7" sz="800">
                <a:solidFill>
                  <a:srgbClr val="CCCCCC"/>
                </a:solidFill>
                <a:latin typeface="Roboto"/>
              </a:rPr>
              <a:t> 4  13 ms  12 ms  12 ms 72.14.215.85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8680" y="7744459"/>
            <a:ext cx="267462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9" sz="800">
                <a:solidFill>
                  <a:srgbClr val="CCCCCC"/>
                </a:solidFill>
                <a:latin typeface="Roboto"/>
              </a:rPr>
              <a:t> 5  14 ms  14 ms  15 ms 142.250.195.78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8990" y="7993380"/>
            <a:ext cx="89154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800">
                <a:solidFill>
                  <a:srgbClr val="CCCCCC"/>
                </a:solidFill>
                <a:latin typeface="Roboto"/>
              </a:rPr>
              <a:t>Trace complete.</a:t>
            </a:r>
          </a:p>
        </p:txBody>
      </p:sp>
      <p:graphicFrame>
        <p:nvGraphicFramePr>
          <p:cNvPr id="101" name="Table 100"/>
          <p:cNvGraphicFramePr>
            <a:graphicFrameLocks noGrp="1"/>
          </p:cNvGraphicFramePr>
          <p:nvPr/>
        </p:nvGraphicFramePr>
        <p:xfrm>
          <a:off x="720090" y="8257540"/>
          <a:ext cx="6120130" cy="1239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239519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8509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000000"/>
                          </a:solidFill>
                          <a:latin typeface="Roboto"/>
                        </a:rPr>
                        <a:t>Command Prompt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60"/>
                        </a:spcBef>
                      </a:pPr>
                      <a:r>
                        <a:rPr spc="88" sz="800">
                          <a:solidFill>
                            <a:srgbClr val="CCCCCC"/>
                          </a:solidFill>
                          <a:latin typeface="Roboto"/>
                        </a:rPr>
                        <a:t>C:\Users\</a:t>
                      </a:r>
                      <a:r>
                        <a:rPr spc="-17" sz="600">
                          <a:solidFill>
                            <a:srgbClr val="CCCCCC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1700530" y="8587740"/>
            <a:ext cx="118872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800">
                <a:solidFill>
                  <a:srgbClr val="CCCCCC"/>
                </a:solidFill>
                <a:latin typeface="Roboto"/>
              </a:rPr>
              <a:t>&gt;nslookup google.com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8990" y="8712200"/>
            <a:ext cx="112903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CCCCCC"/>
                </a:solidFill>
                <a:latin typeface="Roboto"/>
              </a:rPr>
              <a:t>Server: dns.google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8990" y="8836660"/>
            <a:ext cx="101092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6" sz="800">
                <a:solidFill>
                  <a:srgbClr val="CCCCCC"/>
                </a:solidFill>
                <a:latin typeface="Roboto"/>
              </a:rPr>
              <a:t>Address: 8.8.8.8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8990" y="9085580"/>
            <a:ext cx="148589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2" sz="800">
                <a:solidFill>
                  <a:srgbClr val="CCCCCC"/>
                </a:solidFill>
                <a:latin typeface="Roboto"/>
              </a:rPr>
              <a:t>Non-authoritative answer: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8990" y="9210040"/>
            <a:ext cx="112903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4" sz="800">
                <a:solidFill>
                  <a:srgbClr val="CCCCCC"/>
                </a:solidFill>
                <a:latin typeface="Roboto"/>
              </a:rPr>
              <a:t>Name:  google.com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8990" y="9334500"/>
            <a:ext cx="142621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0" sz="800">
                <a:solidFill>
                  <a:srgbClr val="CCCCCC"/>
                </a:solidFill>
                <a:latin typeface="Roboto"/>
              </a:rPr>
              <a:t>Address: 142.250.195.78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747770" y="10195560"/>
            <a:ext cx="6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000">
                <a:solidFill>
                  <a:srgbClr val="000000"/>
                </a:solidFill>
                <a:latin typeface="Noto Serif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647700"/>
            <a:ext cx="6120130" cy="254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901700"/>
            <a:ext cx="6120130" cy="12344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640080"/>
            <a:ext cx="6120130" cy="152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2128520"/>
            <a:ext cx="6120130" cy="152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" y="647700"/>
            <a:ext cx="15239" cy="148843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600" y="647700"/>
            <a:ext cx="15240" cy="148843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" y="2237740"/>
            <a:ext cx="6120130" cy="254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2491740"/>
            <a:ext cx="6120130" cy="8610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3454400"/>
            <a:ext cx="6120130" cy="254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708400"/>
            <a:ext cx="6120130" cy="123443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" y="5044440"/>
            <a:ext cx="6120130" cy="254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90" y="5298440"/>
            <a:ext cx="6120130" cy="736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0230" y="224790"/>
            <a:ext cx="1656079" cy="25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0230" y="443230"/>
            <a:ext cx="1656079" cy="25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3609" y="237490"/>
            <a:ext cx="25400" cy="21844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7530" y="237490"/>
            <a:ext cx="25400" cy="21844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0230" y="443230"/>
            <a:ext cx="1656079" cy="25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3609" y="237490"/>
            <a:ext cx="25400" cy="21844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7310" y="114300"/>
            <a:ext cx="2285999" cy="482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7530" y="237490"/>
            <a:ext cx="25400" cy="21844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0230" y="237490"/>
            <a:ext cx="1656079" cy="21844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0230" y="224790"/>
            <a:ext cx="1656079" cy="25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0" y="952500"/>
            <a:ext cx="2378709" cy="25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40300" y="0"/>
            <a:ext cx="25400" cy="965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0" y="0"/>
            <a:ext cx="2378709" cy="9652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0" y="0"/>
            <a:ext cx="2378709" cy="127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9009" y="0"/>
            <a:ext cx="25400" cy="9652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0" y="952500"/>
            <a:ext cx="2378709" cy="25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0" y="0"/>
            <a:ext cx="2378709" cy="127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9009" y="0"/>
            <a:ext cx="25400" cy="9652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40300" y="0"/>
            <a:ext cx="25400" cy="9652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40600" y="127000"/>
            <a:ext cx="25400" cy="2032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317500"/>
            <a:ext cx="1257300" cy="25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114300"/>
            <a:ext cx="1257300" cy="25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40600" y="127000"/>
            <a:ext cx="25400" cy="2032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3300" y="127000"/>
            <a:ext cx="25400" cy="2032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317500"/>
            <a:ext cx="1257300" cy="25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114300"/>
            <a:ext cx="1257300" cy="25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3300" y="127000"/>
            <a:ext cx="25400" cy="2032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127000"/>
            <a:ext cx="1257300" cy="2032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0200" y="330200"/>
            <a:ext cx="25400" cy="2032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40600" y="330200"/>
            <a:ext cx="25400" cy="2032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92900" y="520700"/>
            <a:ext cx="660400" cy="25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40600" y="330200"/>
            <a:ext cx="25400" cy="2032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0200" y="330200"/>
            <a:ext cx="25400" cy="2032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92900" y="330200"/>
            <a:ext cx="660400" cy="2032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92900" y="520700"/>
            <a:ext cx="660400" cy="25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661660" y="190500"/>
            <a:ext cx="4318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" sz="900">
                <a:solidFill>
                  <a:srgbClr val="005CB8"/>
                </a:solidFill>
                <a:latin typeface="Roboto"/>
              </a:rPr>
              <a:t>NAME :-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0" y="199390"/>
            <a:ext cx="8407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800">
                <a:solidFill>
                  <a:srgbClr val="000000"/>
                </a:solidFill>
                <a:latin typeface="Roboto"/>
              </a:rPr>
              <a:t>PRANEETH </a:t>
            </a:r>
            <a:r>
              <a:rPr spc="0" u="sng" sz="800">
                <a:solidFill>
                  <a:srgbClr val="000000"/>
                </a:solidFill>
                <a:uFill>
                  <a:solidFill>
                    <a:srgbClr val="ffffff">
                      <a:alpha val="100000"/>
                    </a:srgbClr>
                  </a:solidFill>
                </a:uFill>
                <a:latin typeface="Roboto"/>
              </a:rPr>
              <a:t>SAI 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2540" y="393700"/>
            <a:ext cx="3111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5CB8"/>
                </a:solidFill>
                <a:latin typeface="Roboto"/>
              </a:rPr>
              <a:t>REG 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18300" y="402590"/>
            <a:ext cx="5080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800">
                <a:solidFill>
                  <a:srgbClr val="000000"/>
                </a:solidFill>
                <a:latin typeface="Roboto"/>
              </a:rPr>
              <a:t>241501146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8990" y="722630"/>
            <a:ext cx="87629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850">
                <a:solidFill>
                  <a:srgbClr val="000000"/>
                </a:solidFill>
                <a:latin typeface="Roboto"/>
              </a:rPr>
              <a:t>Command Prompt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8990" y="977900"/>
            <a:ext cx="53466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8" sz="800">
                <a:solidFill>
                  <a:srgbClr val="CCCCCC"/>
                </a:solidFill>
                <a:latin typeface="Roboto"/>
              </a:rPr>
              <a:t>C:\Users\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43660" y="975360"/>
            <a:ext cx="176530" cy="73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600">
                <a:solidFill>
                  <a:srgbClr val="CCCCCC"/>
                </a:solidFill>
                <a:latin typeface="Roboto"/>
              </a:rPr>
              <a:t>USER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00530" y="977900"/>
            <a:ext cx="71373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7" sz="800">
                <a:solidFill>
                  <a:srgbClr val="CCCCCC"/>
                </a:solidFill>
                <a:latin typeface="Roboto"/>
              </a:rPr>
              <a:t>&gt;netstat -an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8990" y="1226820"/>
            <a:ext cx="106934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5" sz="800">
                <a:solidFill>
                  <a:srgbClr val="CCCCCC"/>
                </a:solidFill>
                <a:latin typeface="Roboto"/>
              </a:rPr>
              <a:t>Active Connections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1475740"/>
            <a:ext cx="350647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8" sz="800">
                <a:solidFill>
                  <a:srgbClr val="CCCCCC"/>
                </a:solidFill>
                <a:latin typeface="Roboto"/>
              </a:rPr>
              <a:t> Proto Local Address     Foreign Address    State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1600200"/>
            <a:ext cx="374395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7" sz="800">
                <a:solidFill>
                  <a:srgbClr val="CCCCCC"/>
                </a:solidFill>
                <a:latin typeface="Roboto"/>
              </a:rPr>
              <a:t> TCP  0.0.0.0:135      0.0.0.0:0       LISTENING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1724660"/>
            <a:ext cx="374395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7" sz="800">
                <a:solidFill>
                  <a:srgbClr val="CCCCCC"/>
                </a:solidFill>
                <a:latin typeface="Roboto"/>
              </a:rPr>
              <a:t> TCP  0.0.0.0:445      0.0.0.0:0       LISTENING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1849120"/>
            <a:ext cx="386334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sz="800">
                <a:solidFill>
                  <a:srgbClr val="CCCCCC"/>
                </a:solidFill>
                <a:latin typeface="Roboto"/>
              </a:rPr>
              <a:t> TCP  192.168.1.25:50234   142.250.195.78:443   ESTABLISHED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1973580"/>
            <a:ext cx="202057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69" sz="800">
                <a:solidFill>
                  <a:srgbClr val="CCCCCC"/>
                </a:solidFill>
                <a:latin typeface="Roboto"/>
              </a:rPr>
              <a:t> UDP  0.0.0.0:5353      *:*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720090" y="2237740"/>
          <a:ext cx="6120130" cy="1115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115060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8509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000000"/>
                          </a:solidFill>
                          <a:latin typeface="Roboto"/>
                        </a:rPr>
                        <a:t>Command Prompt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88" sz="800">
                          <a:solidFill>
                            <a:srgbClr val="CCCCCC"/>
                          </a:solidFill>
                          <a:latin typeface="Roboto"/>
                        </a:rPr>
                        <a:t>C:\Users\</a:t>
                      </a:r>
                      <a:r>
                        <a:rPr spc="-17" sz="600">
                          <a:solidFill>
                            <a:srgbClr val="CCCCCC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10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1700530" y="2567940"/>
            <a:ext cx="41655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sz="800">
                <a:solidFill>
                  <a:srgbClr val="CCCCCC"/>
                </a:solidFill>
                <a:latin typeface="Roboto"/>
              </a:rPr>
              <a:t>&gt;arp -a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8990" y="2816860"/>
            <a:ext cx="184277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6" sz="800">
                <a:solidFill>
                  <a:srgbClr val="CCCCCC"/>
                </a:solidFill>
                <a:latin typeface="Roboto"/>
              </a:rPr>
              <a:t>Interface: 192.168.1.25 --- 0x8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2941320"/>
            <a:ext cx="291211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1" sz="800">
                <a:solidFill>
                  <a:srgbClr val="CCCCCC"/>
                </a:solidFill>
                <a:latin typeface="Roboto"/>
              </a:rPr>
              <a:t> Internet Address   Physical Address   Type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3065780"/>
            <a:ext cx="308991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2" sz="800">
                <a:solidFill>
                  <a:srgbClr val="CCCCCC"/>
                </a:solidFill>
                <a:latin typeface="Roboto"/>
              </a:rPr>
              <a:t> 192.168.1.1      c4-e9-84-2a-5b-10   dynamic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3190240"/>
            <a:ext cx="303149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33" sz="800">
                <a:solidFill>
                  <a:srgbClr val="CCCCCC"/>
                </a:solidFill>
                <a:latin typeface="Roboto"/>
              </a:rPr>
              <a:t> 192.168.1.255     ff-ff-ff-ff-ff-ff   static</a:t>
            </a:r>
          </a:p>
        </p:txBody>
      </p:sp>
      <p:graphicFrame>
        <p:nvGraphicFramePr>
          <p:cNvPr id="72" name="Table 71"/>
          <p:cNvGraphicFramePr>
            <a:graphicFrameLocks noGrp="1"/>
          </p:cNvGraphicFramePr>
          <p:nvPr/>
        </p:nvGraphicFramePr>
        <p:xfrm>
          <a:off x="720090" y="3454400"/>
          <a:ext cx="6120130" cy="14884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488439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8509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000000"/>
                          </a:solidFill>
                          <a:latin typeface="Roboto"/>
                        </a:rPr>
                        <a:t>Command Prompt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88" sz="800">
                          <a:solidFill>
                            <a:srgbClr val="CCCCCC"/>
                          </a:solidFill>
                          <a:latin typeface="Roboto"/>
                        </a:rPr>
                        <a:t>C:\Users\</a:t>
                      </a:r>
                      <a:r>
                        <a:rPr spc="-17" sz="600">
                          <a:solidFill>
                            <a:srgbClr val="CCCCCC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10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1700530" y="3784600"/>
            <a:ext cx="71373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7" sz="800">
                <a:solidFill>
                  <a:srgbClr val="CCCCCC"/>
                </a:solidFill>
                <a:latin typeface="Roboto"/>
              </a:rPr>
              <a:t>&gt;route print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8990" y="4033520"/>
            <a:ext cx="951229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800">
                <a:solidFill>
                  <a:srgbClr val="CCCCCC"/>
                </a:solidFill>
                <a:latin typeface="Roboto"/>
              </a:rPr>
              <a:t>IPv4 Route Table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8990" y="4157979"/>
            <a:ext cx="44577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" sz="800">
                <a:solidFill>
                  <a:srgbClr val="CCCCCC"/>
                </a:solidFill>
                <a:latin typeface="Roboto"/>
              </a:rPr>
              <a:t>===========================================================================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990" y="4282440"/>
            <a:ext cx="83184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sz="800">
                <a:solidFill>
                  <a:srgbClr val="CCCCCC"/>
                </a:solidFill>
                <a:latin typeface="Roboto"/>
              </a:rPr>
              <a:t>Active Routes: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8990" y="4406900"/>
            <a:ext cx="44577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5" sz="800">
                <a:solidFill>
                  <a:srgbClr val="CCCCCC"/>
                </a:solidFill>
                <a:latin typeface="Roboto"/>
              </a:rPr>
              <a:t>Network Destination    Netmask     Gateway    Interface Metric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43660" y="4531360"/>
            <a:ext cx="386334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4" sz="800">
                <a:solidFill>
                  <a:srgbClr val="CCCCCC"/>
                </a:solidFill>
                <a:latin typeface="Roboto"/>
              </a:rPr>
              <a:t> 0.0.0.0     0.0.0.0   192.168.1.1  192.168.1.25   25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25550" y="4655820"/>
            <a:ext cx="404114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1" sz="800">
                <a:solidFill>
                  <a:srgbClr val="CCCCCC"/>
                </a:solidFill>
                <a:latin typeface="Roboto"/>
              </a:rPr>
              <a:t> 127.0.0.0    255.0.0.0     On-link     127.0.0.1  331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6170" y="4780280"/>
            <a:ext cx="416052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09" sz="800">
                <a:solidFill>
                  <a:srgbClr val="CCCCCC"/>
                </a:solidFill>
                <a:latin typeface="Roboto"/>
              </a:rPr>
              <a:t> 192.168.1.0  255.255.255.0     On-link   192.168.1.25  281</a:t>
            </a:r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720090" y="5044440"/>
          <a:ext cx="6120130" cy="99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990600">
                <a:tc>
                  <a:txBody>
                    <a:bodyPr/>
                    <a:lstStyle/>
                    <a:p>
                      <a:pPr>
                        <a:lnSpc>
                          <a:spcPts val="560"/>
                        </a:lnSpc>
                      </a:pPr>
                    </a:p>
                    <a:p>
                      <a:pPr marL="85090" algn="l">
                        <a:lnSpc>
                          <a:spcPts val="850"/>
                        </a:lnSpc>
                      </a:pPr>
                      <a:r>
                        <a:rPr spc="-5" sz="850">
                          <a:solidFill>
                            <a:srgbClr val="000000"/>
                          </a:solidFill>
                          <a:latin typeface="Roboto"/>
                        </a:rPr>
                        <a:t>Command Prompt</a:t>
                      </a:r>
                    </a:p>
                    <a:p>
                      <a:pPr marL="85090" algn="l">
                        <a:lnSpc>
                          <a:spcPts val="800"/>
                        </a:lnSpc>
                        <a:spcBef>
                          <a:spcPts val="1140"/>
                        </a:spcBef>
                      </a:pPr>
                      <a:r>
                        <a:rPr spc="88" sz="800">
                          <a:solidFill>
                            <a:srgbClr val="CCCCCC"/>
                          </a:solidFill>
                          <a:latin typeface="Roboto"/>
                        </a:rPr>
                        <a:t>C:\Users\</a:t>
                      </a:r>
                      <a:r>
                        <a:rPr spc="-17" sz="600">
                          <a:solidFill>
                            <a:srgbClr val="CCCCCC"/>
                          </a:solidFill>
                          <a:latin typeface="Roboto"/>
                        </a:rPr>
                        <a:t>USER</a:t>
                      </a:r>
                    </a:p>
                    <a:p>
                      <a:pPr marL="85090" algn="l">
                        <a:lnSpc>
                          <a:spcPts val="980"/>
                        </a:lnSpc>
                        <a:spcBef>
                          <a:spcPts val="980"/>
                        </a:spcBef>
                      </a:pPr>
                    </a:p>
                  </a:txBody>
                  <a:tcPr marL="0" marR="0" marT="0" marB="0" vert="horz">
                    <a:lnL w="3810" cap="flat" cmpd="sng" algn="ctr">
                      <a:solidFill>
                        <a:srgbClr val="545454">
                          <a:alpha val="100000"/>
                        </a:srgbClr>
                      </a:solidFill>
                    </a:lnL>
                    <a:lnR w="3810" cap="flat" cmpd="sng" algn="ctr">
                      <a:solidFill>
                        <a:srgbClr val="545454">
                          <a:alpha val="100000"/>
                        </a:srgbClr>
                      </a:solidFill>
                    </a:lnR>
                    <a:lnT w="3809" cap="flat" cmpd="sng" algn="ctr">
                      <a:solidFill>
                        <a:srgbClr val="545454">
                          <a:alpha val="100000"/>
                        </a:srgbClr>
                      </a:solidFill>
                    </a:lnT>
                    <a:lnB w="3809" cap="flat" cmpd="sng" algn="ctr">
                      <a:solidFill>
                        <a:srgbClr val="545454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1700530" y="5374640"/>
            <a:ext cx="416559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800">
                <a:solidFill>
                  <a:srgbClr val="CCCCCC"/>
                </a:solidFill>
                <a:latin typeface="Roboto"/>
              </a:rPr>
              <a:t>&gt;getmac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8990" y="5623560"/>
            <a:ext cx="202057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1" sz="800">
                <a:solidFill>
                  <a:srgbClr val="CCCCCC"/>
                </a:solidFill>
                <a:latin typeface="Roboto"/>
              </a:rPr>
              <a:t>Physical Address  Transport Name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08990" y="5748020"/>
            <a:ext cx="4635500" cy="990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1" sz="800">
                <a:solidFill>
                  <a:srgbClr val="CCCCCC"/>
                </a:solidFill>
                <a:latin typeface="Roboto"/>
              </a:rPr>
              <a:t>=================== ==========================================================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8990" y="5872480"/>
            <a:ext cx="427990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sz="800">
                <a:solidFill>
                  <a:srgbClr val="CCCCCC"/>
                </a:solidFill>
                <a:latin typeface="Roboto"/>
              </a:rPr>
              <a:t>00-1A-2B-3C-4D-5E  \Device\Tcpip_{8F3A21B0-5C6D-4E7F-9A1B-2C3D4E5F6A7B}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0090" y="6329680"/>
            <a:ext cx="7150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u="sng" b="1" sz="13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Noto Serif"/>
              </a:rPr>
              <a:t>RESULT: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090" y="6601459"/>
            <a:ext cx="56591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4" sz="1200">
                <a:solidFill>
                  <a:srgbClr val="000000"/>
                </a:solidFill>
                <a:latin typeface="Noto Serif"/>
              </a:rPr>
              <a:t>Thus the various network commands used in Linux and Windows were studied and executed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0090" y="6817359"/>
            <a:ext cx="78231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6" sz="1200">
                <a:solidFill>
                  <a:srgbClr val="000000"/>
                </a:solidFill>
                <a:latin typeface="Noto Serif"/>
              </a:rPr>
              <a:t>successfully.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47770" y="10195560"/>
            <a:ext cx="6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1000">
                <a:solidFill>
                  <a:srgbClr val="000000"/>
                </a:solidFill>
                <a:latin typeface="Noto Serif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